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4"/>
  </p:notesMasterIdLst>
  <p:handoutMasterIdLst>
    <p:handoutMasterId r:id="rId15"/>
  </p:handoutMasterIdLst>
  <p:sldIdLst>
    <p:sldId id="256" r:id="rId2"/>
    <p:sldId id="257" r:id="rId3"/>
    <p:sldId id="258" r:id="rId4"/>
    <p:sldId id="259" r:id="rId5"/>
    <p:sldId id="267" r:id="rId6"/>
    <p:sldId id="268" r:id="rId7"/>
    <p:sldId id="262" r:id="rId8"/>
    <p:sldId id="263" r:id="rId9"/>
    <p:sldId id="264" r:id="rId10"/>
    <p:sldId id="265" r:id="rId11"/>
    <p:sldId id="266" r:id="rId12"/>
    <p:sldId id="269" r:id="rId13"/>
  </p:sldIdLst>
  <p:sldSz cx="18288000" cy="10287000"/>
  <p:notesSz cx="6858000" cy="9144000"/>
  <p:embeddedFontLst>
    <p:embeddedFont>
      <p:font typeface="Calibri" panose="020F0502020204030204" pitchFamily="34" charset="0"/>
      <p:regular r:id="rId16"/>
      <p:bold r:id="rId17"/>
      <p:italic r:id="rId18"/>
      <p:boldItalic r:id="rId19"/>
    </p:embeddedFont>
    <p:embeddedFont>
      <p:font typeface="Montserrat" panose="00000500000000000000" pitchFamily="2" charset="0"/>
      <p:regular r:id="rId20"/>
      <p:bold r:id="rId21"/>
      <p:italic r:id="rId22"/>
      <p:boldItalic r:id="rId23"/>
    </p:embeddedFont>
    <p:embeddedFont>
      <p:font typeface="Montserrat Bold" panose="00000800000000000000" charset="0"/>
      <p:regular r:id="rId24"/>
    </p:embeddedFont>
    <p:embeddedFont>
      <p:font typeface="Montserrat Medium" panose="00000600000000000000" pitchFamily="2" charset="0"/>
      <p:regular r:id="rId25"/>
      <p:italic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4A5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182" autoAdjust="0"/>
    <p:restoredTop sz="92593" autoAdjust="0"/>
  </p:normalViewPr>
  <p:slideViewPr>
    <p:cSldViewPr>
      <p:cViewPr varScale="1">
        <p:scale>
          <a:sx n="41" d="100"/>
          <a:sy n="41" d="100"/>
        </p:scale>
        <p:origin x="720" y="2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font" Target="fonts/font11.fntdata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font" Target="fonts/font10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9.fntdata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23" Type="http://schemas.openxmlformats.org/officeDocument/2006/relationships/font" Target="fonts/font8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7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1FBEE50-BA54-496F-BF57-D354834DB5F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9EEDF6A-F347-4196-9E7A-CE4D39F5708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C8D75C-01D1-4433-92A4-8ECA83A1866F}" type="datetimeFigureOut">
              <a:rPr lang="en-US" smtClean="0"/>
              <a:t>27-May-25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AC7097D-0D1C-4715-B39D-5A05BE75059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D8F388E-6775-4186-B935-E462B708FE3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22B9AAC-3FBD-4D02-AC4D-C7872DD25D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448222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7452CD2-2426-4AE4-BF81-E0179E755417}" type="datetimeFigureOut">
              <a:rPr lang="en-US" smtClean="0"/>
              <a:t>27-May-25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04EFD2A-B5BA-4180-A281-2B61FB095D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90346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4EFD2A-B5BA-4180-A281-2B61FB095D6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58215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4EFD2A-B5BA-4180-A281-2B61FB095D6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083942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4EFD2A-B5BA-4180-A281-2B61FB095D6C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92653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ED338E-3F75-4697-802E-94ACC470F0B2}" type="datetime1">
              <a:rPr lang="en-US" smtClean="0"/>
              <a:t>27-May-25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21559F-0462-45D7-942B-C8DD060CB135}" type="datetime1">
              <a:rPr lang="en-US" smtClean="0"/>
              <a:t>27-May-25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4ED6DB-2C01-46E3-96F3-3EE74BC82F42}" type="datetime1">
              <a:rPr lang="en-US" smtClean="0"/>
              <a:t>27-May-25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F821EA-9BD8-4634-BBB5-4A58AAE4CB7C}" type="datetime1">
              <a:rPr lang="en-US" smtClean="0"/>
              <a:t>27-May-25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F1E39D-CDA7-467A-97AA-D12EACC8016D}" type="datetime1">
              <a:rPr lang="en-US" smtClean="0"/>
              <a:t>27-May-25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062E2D-7911-4C82-AA78-BC09A280817F}" type="datetime1">
              <a:rPr lang="en-US" smtClean="0"/>
              <a:t>27-May-25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F2D898-8270-449B-B58D-05EC39B3EBD9}" type="datetime1">
              <a:rPr lang="en-US" smtClean="0"/>
              <a:t>27-May-25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1686BB-7A41-42A2-B83C-4FDC152F1FB2}" type="datetime1">
              <a:rPr lang="en-US" smtClean="0"/>
              <a:t>27-May-25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E26D00-1513-4182-BD5D-B144FA574E1A}" type="datetime1">
              <a:rPr lang="en-US" smtClean="0"/>
              <a:t>27-May-25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A9D3DB-3AA5-4280-9124-8E19761AAC03}" type="datetime1">
              <a:rPr lang="en-US" smtClean="0"/>
              <a:t>27-May-25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072419-2F93-4889-857D-45DFF0028DFC}" type="datetime1">
              <a:rPr lang="en-US" smtClean="0"/>
              <a:t>27-May-25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801110-3DAA-47EA-AFCE-5C1EA6256C77}" type="datetime1">
              <a:rPr lang="en-US" smtClean="0"/>
              <a:t>27-May-25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3.png"/><Relationship Id="rId7" Type="http://schemas.openxmlformats.org/officeDocument/2006/relationships/image" Target="../media/image8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2.svg"/><Relationship Id="rId10" Type="http://schemas.openxmlformats.org/officeDocument/2006/relationships/image" Target="../media/image6.png"/><Relationship Id="rId4" Type="http://schemas.openxmlformats.org/officeDocument/2006/relationships/image" Target="../media/image1.png"/><Relationship Id="rId9" Type="http://schemas.openxmlformats.org/officeDocument/2006/relationships/image" Target="../media/image10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1.png"/><Relationship Id="rId7" Type="http://schemas.openxmlformats.org/officeDocument/2006/relationships/image" Target="../media/image1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2.svg"/><Relationship Id="rId9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1.png"/><Relationship Id="rId7" Type="http://schemas.openxmlformats.org/officeDocument/2006/relationships/image" Target="../media/image13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2.svg"/><Relationship Id="rId9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6.png"/><Relationship Id="rId4" Type="http://schemas.openxmlformats.org/officeDocument/2006/relationships/image" Target="../media/image8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6.png"/><Relationship Id="rId4" Type="http://schemas.openxmlformats.org/officeDocument/2006/relationships/image" Target="../media/image8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3.png"/><Relationship Id="rId7" Type="http://schemas.openxmlformats.org/officeDocument/2006/relationships/image" Target="../media/image8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2.svg"/><Relationship Id="rId10" Type="http://schemas.openxmlformats.org/officeDocument/2006/relationships/image" Target="../media/image6.png"/><Relationship Id="rId4" Type="http://schemas.openxmlformats.org/officeDocument/2006/relationships/image" Target="../media/image1.png"/><Relationship Id="rId9" Type="http://schemas.openxmlformats.org/officeDocument/2006/relationships/image" Target="../media/image20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svg"/><Relationship Id="rId3" Type="http://schemas.openxmlformats.org/officeDocument/2006/relationships/image" Target="../media/image1.png"/><Relationship Id="rId7" Type="http://schemas.openxmlformats.org/officeDocument/2006/relationships/image" Target="../media/image2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2.svg"/><Relationship Id="rId9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svg"/><Relationship Id="rId3" Type="http://schemas.openxmlformats.org/officeDocument/2006/relationships/image" Target="../media/image1.png"/><Relationship Id="rId7" Type="http://schemas.openxmlformats.org/officeDocument/2006/relationships/image" Target="../media/image23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2.svg"/><Relationship Id="rId9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svg"/><Relationship Id="rId3" Type="http://schemas.openxmlformats.org/officeDocument/2006/relationships/image" Target="../media/image1.png"/><Relationship Id="rId7" Type="http://schemas.openxmlformats.org/officeDocument/2006/relationships/image" Target="../media/image2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2.svg"/><Relationship Id="rId9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svg"/><Relationship Id="rId3" Type="http://schemas.openxmlformats.org/officeDocument/2006/relationships/image" Target="../media/image1.png"/><Relationship Id="rId7" Type="http://schemas.openxmlformats.org/officeDocument/2006/relationships/image" Target="../media/image2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2.svg"/><Relationship Id="rId9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8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7239000" y="0"/>
            <a:ext cx="11049000" cy="10287000"/>
          </a:xfrm>
          <a:custGeom>
            <a:avLst/>
            <a:gdLst/>
            <a:ahLst/>
            <a:cxnLst/>
            <a:rect l="l" t="t" r="r" b="b"/>
            <a:pathLst>
              <a:path w="11617762" h="10287000">
                <a:moveTo>
                  <a:pt x="0" y="0"/>
                </a:moveTo>
                <a:lnTo>
                  <a:pt x="11617762" y="0"/>
                </a:lnTo>
                <a:lnTo>
                  <a:pt x="11617762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>
            <a:off x="9144000" y="0"/>
            <a:ext cx="10287000" cy="10287000"/>
          </a:xfrm>
          <a:custGeom>
            <a:avLst/>
            <a:gdLst/>
            <a:ahLst/>
            <a:cxnLst/>
            <a:rect l="l" t="t" r="r" b="b"/>
            <a:pathLst>
              <a:path w="10287000" h="10287000">
                <a:moveTo>
                  <a:pt x="10287000" y="0"/>
                </a:moveTo>
                <a:lnTo>
                  <a:pt x="0" y="0"/>
                </a:lnTo>
                <a:lnTo>
                  <a:pt x="0" y="10287000"/>
                </a:lnTo>
                <a:lnTo>
                  <a:pt x="10287000" y="10287000"/>
                </a:lnTo>
                <a:lnTo>
                  <a:pt x="10287000" y="0"/>
                </a:lnTo>
                <a:close/>
              </a:path>
            </a:pathLst>
          </a:custGeom>
          <a:blipFill>
            <a:blip r:embed="rId5">
              <a:alphaModFix amt="25000"/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4" name="Freeform 4"/>
          <p:cNvSpPr/>
          <p:nvPr/>
        </p:nvSpPr>
        <p:spPr>
          <a:xfrm>
            <a:off x="-1143000" y="-338666"/>
            <a:ext cx="10287000" cy="10287000"/>
          </a:xfrm>
          <a:custGeom>
            <a:avLst/>
            <a:gdLst/>
            <a:ahLst/>
            <a:cxnLst/>
            <a:rect l="l" t="t" r="r" b="b"/>
            <a:pathLst>
              <a:path w="10287000" h="10287000">
                <a:moveTo>
                  <a:pt x="0" y="0"/>
                </a:moveTo>
                <a:lnTo>
                  <a:pt x="10287000" y="0"/>
                </a:lnTo>
                <a:lnTo>
                  <a:pt x="10287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25000"/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5" name="Freeform 5"/>
          <p:cNvSpPr/>
          <p:nvPr/>
        </p:nvSpPr>
        <p:spPr>
          <a:xfrm>
            <a:off x="9144000" y="2815167"/>
            <a:ext cx="8081961" cy="5528733"/>
          </a:xfrm>
          <a:custGeom>
            <a:avLst/>
            <a:gdLst/>
            <a:ahLst/>
            <a:cxnLst/>
            <a:rect l="l" t="t" r="r" b="b"/>
            <a:pathLst>
              <a:path w="8794507" h="5852344">
                <a:moveTo>
                  <a:pt x="0" y="0"/>
                </a:moveTo>
                <a:lnTo>
                  <a:pt x="8794507" y="0"/>
                </a:lnTo>
                <a:lnTo>
                  <a:pt x="8794507" y="5852344"/>
                </a:lnTo>
                <a:lnTo>
                  <a:pt x="0" y="585234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568724" y="2391498"/>
            <a:ext cx="8575276" cy="359899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sz="5400" b="1" dirty="0">
                <a:solidFill>
                  <a:srgbClr val="004A55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Student Performance Analysis Using Supervised Learning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85800" y="7349070"/>
            <a:ext cx="3906538" cy="5464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79"/>
              </a:lnSpc>
            </a:pPr>
            <a:r>
              <a:rPr lang="en-US" sz="4400" b="1" dirty="0">
                <a:solidFill>
                  <a:srgbClr val="004A55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Group: 17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991244" y="1077229"/>
            <a:ext cx="1660711" cy="4103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15"/>
              </a:lnSpc>
            </a:pPr>
            <a:endParaRPr lang="en-US" sz="3151" b="1" dirty="0">
              <a:solidFill>
                <a:srgbClr val="004A55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4DD101E-6734-462A-9B50-DE66175A92A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2039" y="793021"/>
            <a:ext cx="2848373" cy="46679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9144000" y="0"/>
            <a:ext cx="10287000" cy="10287000"/>
          </a:xfrm>
          <a:custGeom>
            <a:avLst/>
            <a:gdLst/>
            <a:ahLst/>
            <a:cxnLst/>
            <a:rect l="l" t="t" r="r" b="b"/>
            <a:pathLst>
              <a:path w="10287000" h="10287000">
                <a:moveTo>
                  <a:pt x="10287000" y="0"/>
                </a:moveTo>
                <a:lnTo>
                  <a:pt x="0" y="0"/>
                </a:lnTo>
                <a:lnTo>
                  <a:pt x="0" y="10287000"/>
                </a:lnTo>
                <a:lnTo>
                  <a:pt x="10287000" y="10287000"/>
                </a:lnTo>
                <a:lnTo>
                  <a:pt x="10287000" y="0"/>
                </a:lnTo>
                <a:close/>
              </a:path>
            </a:pathLst>
          </a:custGeom>
          <a:blipFill>
            <a:blip r:embed="rId3">
              <a:alphaModFix amt="25000"/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9144000" y="0"/>
            <a:ext cx="9143999" cy="10287000"/>
          </a:xfrm>
          <a:custGeom>
            <a:avLst/>
            <a:gdLst/>
            <a:ahLst/>
            <a:cxnLst/>
            <a:rect l="l" t="t" r="r" b="b"/>
            <a:pathLst>
              <a:path w="11617762" h="10287000">
                <a:moveTo>
                  <a:pt x="0" y="0"/>
                </a:moveTo>
                <a:lnTo>
                  <a:pt x="11617762" y="0"/>
                </a:lnTo>
                <a:lnTo>
                  <a:pt x="11617762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1143000" y="0"/>
            <a:ext cx="10287000" cy="10287000"/>
          </a:xfrm>
          <a:custGeom>
            <a:avLst/>
            <a:gdLst/>
            <a:ahLst/>
            <a:cxnLst/>
            <a:rect l="l" t="t" r="r" b="b"/>
            <a:pathLst>
              <a:path w="10287000" h="10287000">
                <a:moveTo>
                  <a:pt x="0" y="0"/>
                </a:moveTo>
                <a:lnTo>
                  <a:pt x="10287000" y="0"/>
                </a:lnTo>
                <a:lnTo>
                  <a:pt x="10287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5000"/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6" name="Freeform 6"/>
          <p:cNvSpPr/>
          <p:nvPr/>
        </p:nvSpPr>
        <p:spPr>
          <a:xfrm flipV="1">
            <a:off x="15280012" y="7300604"/>
            <a:ext cx="1979288" cy="1957696"/>
          </a:xfrm>
          <a:custGeom>
            <a:avLst/>
            <a:gdLst/>
            <a:ahLst/>
            <a:cxnLst/>
            <a:rect l="l" t="t" r="r" b="b"/>
            <a:pathLst>
              <a:path w="1979288" h="1957696">
                <a:moveTo>
                  <a:pt x="0" y="1957696"/>
                </a:moveTo>
                <a:lnTo>
                  <a:pt x="1979288" y="1957696"/>
                </a:lnTo>
                <a:lnTo>
                  <a:pt x="1979288" y="0"/>
                </a:lnTo>
                <a:lnTo>
                  <a:pt x="0" y="0"/>
                </a:lnTo>
                <a:lnTo>
                  <a:pt x="0" y="1957696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0896600" y="2143547"/>
            <a:ext cx="6156032" cy="6276553"/>
          </a:xfrm>
          <a:custGeom>
            <a:avLst/>
            <a:gdLst/>
            <a:ahLst/>
            <a:cxnLst/>
            <a:rect l="l" t="t" r="r" b="b"/>
            <a:pathLst>
              <a:path w="6524850" h="6370626">
                <a:moveTo>
                  <a:pt x="0" y="0"/>
                </a:moveTo>
                <a:lnTo>
                  <a:pt x="6524850" y="0"/>
                </a:lnTo>
                <a:lnTo>
                  <a:pt x="6524850" y="6370626"/>
                </a:lnTo>
                <a:lnTo>
                  <a:pt x="0" y="637062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1174693" y="2034648"/>
            <a:ext cx="5641538" cy="8894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562"/>
              </a:lnSpc>
            </a:pPr>
            <a:r>
              <a:rPr lang="en-US" sz="5000" b="1" dirty="0">
                <a:solidFill>
                  <a:srgbClr val="004A55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Our Group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E80BADB1-0E4B-49C4-B373-3D5DFD67D942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9086" y="685961"/>
            <a:ext cx="2848373" cy="466790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5C6926A7-6ABD-478F-9D2E-AD345E4D5C95}"/>
              </a:ext>
            </a:extLst>
          </p:cNvPr>
          <p:cNvSpPr txBox="1"/>
          <p:nvPr/>
        </p:nvSpPr>
        <p:spPr>
          <a:xfrm>
            <a:off x="1165699" y="7255909"/>
            <a:ext cx="764660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4A55"/>
                </a:solidFill>
                <a:latin typeface="Montserrat Medium" panose="00000600000000000000" pitchFamily="2" charset="0"/>
              </a:rPr>
              <a:t>Abu Fatah Mohammed Faisal (23107667)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E8FC854-A1E0-4390-8ABA-E095093AADEF}"/>
              </a:ext>
            </a:extLst>
          </p:cNvPr>
          <p:cNvSpPr txBox="1"/>
          <p:nvPr/>
        </p:nvSpPr>
        <p:spPr>
          <a:xfrm flipH="1">
            <a:off x="1195356" y="6422420"/>
            <a:ext cx="52569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4A55"/>
                </a:solidFill>
                <a:latin typeface="Montserrat Medium" panose="00000600000000000000" pitchFamily="2" charset="0"/>
              </a:rPr>
              <a:t>Syed Abrar Jamil (22651396)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AAB5D5D-DA34-4FFA-BCB6-28814C3E19C5}"/>
              </a:ext>
            </a:extLst>
          </p:cNvPr>
          <p:cNvSpPr txBox="1"/>
          <p:nvPr/>
        </p:nvSpPr>
        <p:spPr>
          <a:xfrm>
            <a:off x="1039462" y="4888839"/>
            <a:ext cx="5341547" cy="4022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2341"/>
              </a:lnSpc>
            </a:pPr>
            <a:r>
              <a:rPr lang="en-US" sz="2800" b="1" dirty="0">
                <a:solidFill>
                  <a:srgbClr val="004A55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Rishabh Chhabra (21732261)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66F8C2D-94E9-4490-AFBF-07E91FD6ABCF}"/>
              </a:ext>
            </a:extLst>
          </p:cNvPr>
          <p:cNvSpPr txBox="1"/>
          <p:nvPr/>
        </p:nvSpPr>
        <p:spPr>
          <a:xfrm>
            <a:off x="1174692" y="3915767"/>
            <a:ext cx="534154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4A55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Bhavana </a:t>
            </a:r>
            <a:r>
              <a:rPr lang="en-US" sz="2800" b="1">
                <a:solidFill>
                  <a:srgbClr val="004A55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Thapa (21735985)</a:t>
            </a:r>
            <a:endParaRPr lang="en-US" sz="2800" b="1" dirty="0">
              <a:solidFill>
                <a:srgbClr val="004A55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692F71F-506A-4F4C-81C4-EFD8A12F7A6E}"/>
              </a:ext>
            </a:extLst>
          </p:cNvPr>
          <p:cNvSpPr txBox="1"/>
          <p:nvPr/>
        </p:nvSpPr>
        <p:spPr>
          <a:xfrm>
            <a:off x="1215373" y="5587470"/>
            <a:ext cx="6091681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4A55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Laxmi Bhatta (22348546)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9144000" y="0"/>
            <a:ext cx="10287000" cy="10287000"/>
          </a:xfrm>
          <a:custGeom>
            <a:avLst/>
            <a:gdLst/>
            <a:ahLst/>
            <a:cxnLst/>
            <a:rect l="l" t="t" r="r" b="b"/>
            <a:pathLst>
              <a:path w="10287000" h="10287000">
                <a:moveTo>
                  <a:pt x="10287000" y="0"/>
                </a:moveTo>
                <a:lnTo>
                  <a:pt x="0" y="0"/>
                </a:lnTo>
                <a:lnTo>
                  <a:pt x="0" y="10287000"/>
                </a:lnTo>
                <a:lnTo>
                  <a:pt x="10287000" y="10287000"/>
                </a:lnTo>
                <a:lnTo>
                  <a:pt x="10287000" y="0"/>
                </a:lnTo>
                <a:close/>
              </a:path>
            </a:pathLst>
          </a:custGeom>
          <a:blipFill>
            <a:blip r:embed="rId2">
              <a:alphaModFix amt="25000"/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9165788" y="0"/>
            <a:ext cx="9122212" cy="10287000"/>
          </a:xfrm>
          <a:custGeom>
            <a:avLst/>
            <a:gdLst/>
            <a:ahLst/>
            <a:cxnLst/>
            <a:rect l="l" t="t" r="r" b="b"/>
            <a:pathLst>
              <a:path w="11617762" h="10287000">
                <a:moveTo>
                  <a:pt x="0" y="0"/>
                </a:moveTo>
                <a:lnTo>
                  <a:pt x="11617762" y="0"/>
                </a:lnTo>
                <a:lnTo>
                  <a:pt x="11617762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1143000" y="0"/>
            <a:ext cx="10287000" cy="10287000"/>
          </a:xfrm>
          <a:custGeom>
            <a:avLst/>
            <a:gdLst/>
            <a:ahLst/>
            <a:cxnLst/>
            <a:rect l="l" t="t" r="r" b="b"/>
            <a:pathLst>
              <a:path w="10287000" h="10287000">
                <a:moveTo>
                  <a:pt x="0" y="0"/>
                </a:moveTo>
                <a:lnTo>
                  <a:pt x="10287000" y="0"/>
                </a:lnTo>
                <a:lnTo>
                  <a:pt x="10287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5000"/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flipV="1">
            <a:off x="15280012" y="7300604"/>
            <a:ext cx="1979288" cy="1957696"/>
          </a:xfrm>
          <a:custGeom>
            <a:avLst/>
            <a:gdLst/>
            <a:ahLst/>
            <a:cxnLst/>
            <a:rect l="l" t="t" r="r" b="b"/>
            <a:pathLst>
              <a:path w="1979288" h="1957696">
                <a:moveTo>
                  <a:pt x="0" y="1957696"/>
                </a:moveTo>
                <a:lnTo>
                  <a:pt x="1979288" y="1957696"/>
                </a:lnTo>
                <a:lnTo>
                  <a:pt x="1979288" y="0"/>
                </a:lnTo>
                <a:lnTo>
                  <a:pt x="0" y="0"/>
                </a:lnTo>
                <a:lnTo>
                  <a:pt x="0" y="1957696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flipH="1">
            <a:off x="10896600" y="2440514"/>
            <a:ext cx="6099898" cy="6083201"/>
          </a:xfrm>
          <a:custGeom>
            <a:avLst/>
            <a:gdLst/>
            <a:ahLst/>
            <a:cxnLst/>
            <a:rect l="l" t="t" r="r" b="b"/>
            <a:pathLst>
              <a:path w="6954646" h="6309761">
                <a:moveTo>
                  <a:pt x="6954646" y="0"/>
                </a:moveTo>
                <a:lnTo>
                  <a:pt x="0" y="0"/>
                </a:lnTo>
                <a:lnTo>
                  <a:pt x="0" y="6309761"/>
                </a:lnTo>
                <a:lnTo>
                  <a:pt x="6954646" y="6309761"/>
                </a:lnTo>
                <a:lnTo>
                  <a:pt x="6954646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1001096" y="1756881"/>
            <a:ext cx="8604002" cy="29238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562"/>
              </a:lnSpc>
            </a:pPr>
            <a:r>
              <a:rPr lang="en-US" sz="5000" b="1" dirty="0">
                <a:solidFill>
                  <a:srgbClr val="004A55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Introduction &amp; Problem Statement</a:t>
            </a:r>
          </a:p>
          <a:p>
            <a:pPr algn="l">
              <a:lnSpc>
                <a:spcPts val="7562"/>
              </a:lnSpc>
            </a:pPr>
            <a:r>
              <a:rPr lang="en-US" sz="7414" b="1" dirty="0">
                <a:solidFill>
                  <a:srgbClr val="004A55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28700" y="4383100"/>
            <a:ext cx="8676623" cy="41218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33"/>
              </a:lnSpc>
            </a:pPr>
            <a:r>
              <a:rPr lang="en-US" sz="2800" b="1" dirty="0">
                <a:solidFill>
                  <a:srgbClr val="004A55"/>
                </a:solidFill>
                <a:latin typeface="Montserrat"/>
                <a:ea typeface="Montserrat"/>
                <a:cs typeface="Montserrat"/>
                <a:sym typeface="Montserrat"/>
              </a:rPr>
              <a:t>Domain Problem: </a:t>
            </a:r>
            <a:r>
              <a:rPr lang="en-US" sz="2800" dirty="0">
                <a:solidFill>
                  <a:srgbClr val="004A55"/>
                </a:solidFill>
                <a:latin typeface="Montserrat"/>
                <a:ea typeface="Montserrat"/>
                <a:cs typeface="Montserrat"/>
                <a:sym typeface="Montserrat"/>
              </a:rPr>
              <a:t>Predicting whether a student will pass or fail their final Portuguese language course grade, enabling early intervention for at-risk students.</a:t>
            </a:r>
          </a:p>
          <a:p>
            <a:pPr algn="l">
              <a:lnSpc>
                <a:spcPts val="3633"/>
              </a:lnSpc>
            </a:pPr>
            <a:endParaRPr lang="en-US" sz="2595" dirty="0">
              <a:solidFill>
                <a:srgbClr val="004A55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l">
              <a:lnSpc>
                <a:spcPts val="3633"/>
              </a:lnSpc>
            </a:pPr>
            <a:r>
              <a:rPr lang="en-US" sz="2800" b="1" dirty="0">
                <a:solidFill>
                  <a:srgbClr val="004A55"/>
                </a:solidFill>
                <a:latin typeface="Montserrat"/>
                <a:ea typeface="Montserrat"/>
                <a:cs typeface="Montserrat"/>
                <a:sym typeface="Montserrat"/>
              </a:rPr>
              <a:t>Translation to Data Science Problem: </a:t>
            </a:r>
            <a:r>
              <a:rPr lang="en-US" sz="2800" dirty="0">
                <a:solidFill>
                  <a:srgbClr val="004A55"/>
                </a:solidFill>
                <a:latin typeface="Montserrat"/>
                <a:ea typeface="Montserrat"/>
                <a:cs typeface="Montserrat"/>
                <a:sym typeface="Montserrat"/>
              </a:rPr>
              <a:t>This is a binary classification task, where the target variable is whether the final grade (G3) is at least 10 ("Pass") or below 10 ("Fail").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55FE06EA-7C15-49B1-AE4D-56BFA647622C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1096" y="737313"/>
            <a:ext cx="2848373" cy="46679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9144000" y="0"/>
            <a:ext cx="10287000" cy="10287000"/>
          </a:xfrm>
          <a:custGeom>
            <a:avLst/>
            <a:gdLst/>
            <a:ahLst/>
            <a:cxnLst/>
            <a:rect l="l" t="t" r="r" b="b"/>
            <a:pathLst>
              <a:path w="10287000" h="10287000">
                <a:moveTo>
                  <a:pt x="10287000" y="0"/>
                </a:moveTo>
                <a:lnTo>
                  <a:pt x="0" y="0"/>
                </a:lnTo>
                <a:lnTo>
                  <a:pt x="0" y="10287000"/>
                </a:lnTo>
                <a:lnTo>
                  <a:pt x="10287000" y="10287000"/>
                </a:lnTo>
                <a:lnTo>
                  <a:pt x="10287000" y="0"/>
                </a:lnTo>
                <a:close/>
              </a:path>
            </a:pathLst>
          </a:custGeom>
          <a:blipFill>
            <a:blip r:embed="rId2">
              <a:alphaModFix amt="25000"/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9296400" y="-354166"/>
            <a:ext cx="8991600" cy="10641166"/>
          </a:xfrm>
          <a:custGeom>
            <a:avLst/>
            <a:gdLst/>
            <a:ahLst/>
            <a:cxnLst/>
            <a:rect l="l" t="t" r="r" b="b"/>
            <a:pathLst>
              <a:path w="11617762" h="10287000">
                <a:moveTo>
                  <a:pt x="0" y="0"/>
                </a:moveTo>
                <a:lnTo>
                  <a:pt x="11617762" y="0"/>
                </a:lnTo>
                <a:lnTo>
                  <a:pt x="11617762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1143000" y="0"/>
            <a:ext cx="10287000" cy="10287000"/>
          </a:xfrm>
          <a:custGeom>
            <a:avLst/>
            <a:gdLst/>
            <a:ahLst/>
            <a:cxnLst/>
            <a:rect l="l" t="t" r="r" b="b"/>
            <a:pathLst>
              <a:path w="10287000" h="10287000">
                <a:moveTo>
                  <a:pt x="0" y="0"/>
                </a:moveTo>
                <a:lnTo>
                  <a:pt x="10287000" y="0"/>
                </a:lnTo>
                <a:lnTo>
                  <a:pt x="10287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5000"/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flipV="1">
            <a:off x="15280012" y="7300604"/>
            <a:ext cx="1979288" cy="1957696"/>
          </a:xfrm>
          <a:custGeom>
            <a:avLst/>
            <a:gdLst/>
            <a:ahLst/>
            <a:cxnLst/>
            <a:rect l="l" t="t" r="r" b="b"/>
            <a:pathLst>
              <a:path w="1979288" h="1957696">
                <a:moveTo>
                  <a:pt x="0" y="1957696"/>
                </a:moveTo>
                <a:lnTo>
                  <a:pt x="1979288" y="1957696"/>
                </a:lnTo>
                <a:lnTo>
                  <a:pt x="1979288" y="0"/>
                </a:lnTo>
                <a:lnTo>
                  <a:pt x="0" y="0"/>
                </a:lnTo>
                <a:lnTo>
                  <a:pt x="0" y="1957696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0287000" y="2732113"/>
            <a:ext cx="6296743" cy="5916587"/>
          </a:xfrm>
          <a:custGeom>
            <a:avLst/>
            <a:gdLst/>
            <a:ahLst/>
            <a:cxnLst/>
            <a:rect l="l" t="t" r="r" b="b"/>
            <a:pathLst>
              <a:path w="6695341" h="6074500">
                <a:moveTo>
                  <a:pt x="0" y="0"/>
                </a:moveTo>
                <a:lnTo>
                  <a:pt x="6695341" y="0"/>
                </a:lnTo>
                <a:lnTo>
                  <a:pt x="6695341" y="6074501"/>
                </a:lnTo>
                <a:lnTo>
                  <a:pt x="0" y="607450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941535" y="1866900"/>
            <a:ext cx="10412265" cy="186403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562"/>
              </a:lnSpc>
            </a:pPr>
            <a:r>
              <a:rPr lang="en-US" sz="5000" b="1" dirty="0">
                <a:solidFill>
                  <a:srgbClr val="004A55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Exploratory Data Analysis &amp; Preprocessing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57033" y="4252316"/>
            <a:ext cx="8676623" cy="55133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7200" indent="-457200" algn="l">
              <a:lnSpc>
                <a:spcPts val="3633"/>
              </a:lnSpc>
              <a:buFont typeface="Wingdings" panose="05000000000000000000" pitchFamily="2" charset="2"/>
              <a:buChar char="§"/>
            </a:pPr>
            <a:r>
              <a:rPr lang="en-US" sz="2800" dirty="0">
                <a:solidFill>
                  <a:srgbClr val="004A55"/>
                </a:solidFill>
                <a:latin typeface="Montserrat"/>
                <a:ea typeface="Montserrat"/>
                <a:cs typeface="Montserrat"/>
                <a:sym typeface="Montserrat"/>
              </a:rPr>
              <a:t>Data: 649 students, 33 variables (demographics, academics, social, grades).</a:t>
            </a:r>
          </a:p>
          <a:p>
            <a:pPr algn="l">
              <a:lnSpc>
                <a:spcPts val="3633"/>
              </a:lnSpc>
            </a:pPr>
            <a:endParaRPr lang="en-US" sz="2800" dirty="0">
              <a:solidFill>
                <a:srgbClr val="004A55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indent="-457200" algn="l">
              <a:lnSpc>
                <a:spcPts val="3633"/>
              </a:lnSpc>
              <a:buFont typeface="Wingdings" panose="05000000000000000000" pitchFamily="2" charset="2"/>
              <a:buChar char="§"/>
            </a:pPr>
            <a:r>
              <a:rPr lang="en-US" sz="2800" dirty="0">
                <a:solidFill>
                  <a:srgbClr val="004A55"/>
                </a:solidFill>
                <a:latin typeface="Montserrat"/>
                <a:ea typeface="Montserrat"/>
                <a:cs typeface="Montserrat"/>
                <a:sym typeface="Montserrat"/>
              </a:rPr>
              <a:t>Key Statistics:</a:t>
            </a:r>
          </a:p>
          <a:p>
            <a:pPr marL="914400" lvl="1" indent="-457200">
              <a:lnSpc>
                <a:spcPts val="3633"/>
              </a:lnSpc>
              <a:buFont typeface="Courier New" panose="02070309020205020404" pitchFamily="49" charset="0"/>
              <a:buChar char="o"/>
            </a:pPr>
            <a:r>
              <a:rPr lang="en-US" sz="2800" dirty="0">
                <a:solidFill>
                  <a:srgbClr val="004A55"/>
                </a:solidFill>
                <a:latin typeface="Montserrat"/>
                <a:ea typeface="Montserrat"/>
                <a:cs typeface="Montserrat"/>
                <a:sym typeface="Montserrat"/>
              </a:rPr>
              <a:t>Age: Median 17</a:t>
            </a:r>
          </a:p>
          <a:p>
            <a:pPr marL="914400" lvl="1" indent="-457200">
              <a:lnSpc>
                <a:spcPts val="3633"/>
              </a:lnSpc>
              <a:buFont typeface="Courier New" panose="02070309020205020404" pitchFamily="49" charset="0"/>
              <a:buChar char="o"/>
            </a:pPr>
            <a:r>
              <a:rPr lang="en-US" sz="2800" dirty="0">
                <a:solidFill>
                  <a:srgbClr val="004A55"/>
                </a:solidFill>
                <a:latin typeface="Montserrat"/>
                <a:ea typeface="Montserrat"/>
                <a:cs typeface="Montserrat"/>
                <a:sym typeface="Montserrat"/>
              </a:rPr>
              <a:t>Final Grade (G3): Mean 11.91, median 12</a:t>
            </a:r>
          </a:p>
          <a:p>
            <a:pPr marL="914400" lvl="1" indent="-457200">
              <a:lnSpc>
                <a:spcPts val="3633"/>
              </a:lnSpc>
              <a:buFont typeface="Courier New" panose="02070309020205020404" pitchFamily="49" charset="0"/>
              <a:buChar char="o"/>
            </a:pPr>
            <a:r>
              <a:rPr lang="en-US" sz="2800" dirty="0">
                <a:solidFill>
                  <a:srgbClr val="004A55"/>
                </a:solidFill>
                <a:latin typeface="Montserrat"/>
                <a:ea typeface="Montserrat"/>
                <a:cs typeface="Montserrat"/>
                <a:sym typeface="Montserrat"/>
              </a:rPr>
              <a:t>Few past failures; absences skewed (median 2).</a:t>
            </a:r>
          </a:p>
          <a:p>
            <a:pPr algn="l">
              <a:lnSpc>
                <a:spcPts val="3633"/>
              </a:lnSpc>
            </a:pPr>
            <a:endParaRPr lang="en-US" sz="2800" dirty="0">
              <a:solidFill>
                <a:srgbClr val="004A55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indent="-457200" algn="l">
              <a:lnSpc>
                <a:spcPts val="3633"/>
              </a:lnSpc>
              <a:buFont typeface="Wingdings" panose="05000000000000000000" pitchFamily="2" charset="2"/>
              <a:buChar char="§"/>
            </a:pPr>
            <a:r>
              <a:rPr lang="en-US" sz="2800" dirty="0">
                <a:solidFill>
                  <a:srgbClr val="004A55"/>
                </a:solidFill>
                <a:latin typeface="Montserrat"/>
                <a:ea typeface="Montserrat"/>
                <a:cs typeface="Montserrat"/>
                <a:sym typeface="Montserrat"/>
              </a:rPr>
              <a:t>Preprocessing:</a:t>
            </a:r>
          </a:p>
          <a:p>
            <a:pPr marL="914400" lvl="1" indent="-457200">
              <a:lnSpc>
                <a:spcPts val="3633"/>
              </a:lnSpc>
              <a:buFont typeface="Courier New" panose="02070309020205020404" pitchFamily="49" charset="0"/>
              <a:buChar char="o"/>
            </a:pPr>
            <a:r>
              <a:rPr lang="en-US" sz="2800" dirty="0">
                <a:solidFill>
                  <a:srgbClr val="004A55"/>
                </a:solidFill>
                <a:latin typeface="Montserrat"/>
                <a:ea typeface="Montserrat"/>
                <a:cs typeface="Montserrat"/>
                <a:sym typeface="Montserrat"/>
              </a:rPr>
              <a:t>Removed G1/G2 to prevent data leakage.</a:t>
            </a:r>
          </a:p>
          <a:p>
            <a:pPr marL="914400" lvl="1" indent="-457200">
              <a:lnSpc>
                <a:spcPts val="3633"/>
              </a:lnSpc>
              <a:buFont typeface="Courier New" panose="02070309020205020404" pitchFamily="49" charset="0"/>
              <a:buChar char="o"/>
            </a:pPr>
            <a:r>
              <a:rPr lang="en-US" sz="2800" dirty="0">
                <a:solidFill>
                  <a:srgbClr val="004A55"/>
                </a:solidFill>
                <a:latin typeface="Montserrat"/>
                <a:ea typeface="Montserrat"/>
                <a:cs typeface="Montserrat"/>
                <a:sym typeface="Montserrat"/>
              </a:rPr>
              <a:t>Converted character columns to factors.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68BF613-9B37-48E0-9E24-5F589B80AAB3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1096" y="899337"/>
            <a:ext cx="2848373" cy="46679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9144000" y="0"/>
            <a:ext cx="10287000" cy="10287000"/>
          </a:xfrm>
          <a:custGeom>
            <a:avLst/>
            <a:gdLst/>
            <a:ahLst/>
            <a:cxnLst/>
            <a:rect l="l" t="t" r="r" b="b"/>
            <a:pathLst>
              <a:path w="10287000" h="10287000">
                <a:moveTo>
                  <a:pt x="10287000" y="0"/>
                </a:moveTo>
                <a:lnTo>
                  <a:pt x="0" y="0"/>
                </a:lnTo>
                <a:lnTo>
                  <a:pt x="0" y="10287000"/>
                </a:lnTo>
                <a:lnTo>
                  <a:pt x="10287000" y="10287000"/>
                </a:lnTo>
                <a:lnTo>
                  <a:pt x="10287000" y="0"/>
                </a:lnTo>
                <a:close/>
              </a:path>
            </a:pathLst>
          </a:custGeom>
          <a:blipFill>
            <a:blip r:embed="rId2">
              <a:alphaModFix amt="25000"/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1143000" y="0"/>
            <a:ext cx="10287000" cy="10287000"/>
          </a:xfrm>
          <a:custGeom>
            <a:avLst/>
            <a:gdLst/>
            <a:ahLst/>
            <a:cxnLst/>
            <a:rect l="l" t="t" r="r" b="b"/>
            <a:pathLst>
              <a:path w="10287000" h="10287000">
                <a:moveTo>
                  <a:pt x="0" y="0"/>
                </a:moveTo>
                <a:lnTo>
                  <a:pt x="10287000" y="0"/>
                </a:lnTo>
                <a:lnTo>
                  <a:pt x="10287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5000"/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6" name="Freeform 6"/>
          <p:cNvSpPr/>
          <p:nvPr/>
        </p:nvSpPr>
        <p:spPr>
          <a:xfrm flipV="1">
            <a:off x="15280012" y="7300604"/>
            <a:ext cx="1979288" cy="1957696"/>
          </a:xfrm>
          <a:custGeom>
            <a:avLst/>
            <a:gdLst/>
            <a:ahLst/>
            <a:cxnLst/>
            <a:rect l="l" t="t" r="r" b="b"/>
            <a:pathLst>
              <a:path w="1979288" h="1957696">
                <a:moveTo>
                  <a:pt x="0" y="1957696"/>
                </a:moveTo>
                <a:lnTo>
                  <a:pt x="1979288" y="1957696"/>
                </a:lnTo>
                <a:lnTo>
                  <a:pt x="1979288" y="0"/>
                </a:lnTo>
                <a:lnTo>
                  <a:pt x="0" y="0"/>
                </a:lnTo>
                <a:lnTo>
                  <a:pt x="0" y="1957696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941535" y="1866900"/>
            <a:ext cx="16584465" cy="88941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562"/>
              </a:lnSpc>
            </a:pPr>
            <a:r>
              <a:rPr lang="en-US" sz="5000" b="1" dirty="0">
                <a:solidFill>
                  <a:srgbClr val="004A55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Exploratory Data Analysis &amp; Preprocessing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68BF613-9B37-48E0-9E24-5F589B80AAB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1096" y="899337"/>
            <a:ext cx="2848373" cy="46679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22555A5-FD0B-4CAA-825C-6F2B0C787674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330"/>
          <a:stretch/>
        </p:blipFill>
        <p:spPr>
          <a:xfrm>
            <a:off x="937660" y="3257084"/>
            <a:ext cx="7772400" cy="554561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74E5DC9-782E-4C92-8E04-70FC0501A074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404"/>
          <a:stretch/>
        </p:blipFill>
        <p:spPr>
          <a:xfrm>
            <a:off x="9140125" y="3257084"/>
            <a:ext cx="7772400" cy="554561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BB433F9-0D7F-4118-9702-4D0F54820941}"/>
              </a:ext>
            </a:extLst>
          </p:cNvPr>
          <p:cNvSpPr txBox="1"/>
          <p:nvPr/>
        </p:nvSpPr>
        <p:spPr>
          <a:xfrm>
            <a:off x="1219200" y="8972164"/>
            <a:ext cx="65648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004A55"/>
                </a:solidFill>
                <a:latin typeface="Montserrat" panose="00000500000000000000" pitchFamily="2" charset="0"/>
              </a:rPr>
              <a:t>Figure 1: Distribution of Final Grade (G3)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3E5364E-8C27-43D0-92D7-76784ECAF0C8}"/>
              </a:ext>
            </a:extLst>
          </p:cNvPr>
          <p:cNvSpPr txBox="1"/>
          <p:nvPr/>
        </p:nvSpPr>
        <p:spPr>
          <a:xfrm>
            <a:off x="10638282" y="8961154"/>
            <a:ext cx="48806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004A55"/>
                </a:solidFill>
                <a:latin typeface="Montserrat" panose="00000500000000000000" pitchFamily="2" charset="0"/>
              </a:rPr>
              <a:t>Figure 2: Count of Pass vs Fail</a:t>
            </a:r>
          </a:p>
        </p:txBody>
      </p:sp>
    </p:spTree>
    <p:extLst>
      <p:ext uri="{BB962C8B-B14F-4D97-AF65-F5344CB8AC3E}">
        <p14:creationId xmlns:p14="http://schemas.microsoft.com/office/powerpoint/2010/main" val="27586116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9144000" y="0"/>
            <a:ext cx="10287000" cy="10287000"/>
          </a:xfrm>
          <a:custGeom>
            <a:avLst/>
            <a:gdLst/>
            <a:ahLst/>
            <a:cxnLst/>
            <a:rect l="l" t="t" r="r" b="b"/>
            <a:pathLst>
              <a:path w="10287000" h="10287000">
                <a:moveTo>
                  <a:pt x="10287000" y="0"/>
                </a:moveTo>
                <a:lnTo>
                  <a:pt x="0" y="0"/>
                </a:lnTo>
                <a:lnTo>
                  <a:pt x="0" y="10287000"/>
                </a:lnTo>
                <a:lnTo>
                  <a:pt x="10287000" y="10287000"/>
                </a:lnTo>
                <a:lnTo>
                  <a:pt x="10287000" y="0"/>
                </a:lnTo>
                <a:close/>
              </a:path>
            </a:pathLst>
          </a:custGeom>
          <a:blipFill>
            <a:blip r:embed="rId2">
              <a:alphaModFix amt="25000"/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1143000" y="0"/>
            <a:ext cx="10287000" cy="10287000"/>
          </a:xfrm>
          <a:custGeom>
            <a:avLst/>
            <a:gdLst/>
            <a:ahLst/>
            <a:cxnLst/>
            <a:rect l="l" t="t" r="r" b="b"/>
            <a:pathLst>
              <a:path w="10287000" h="10287000">
                <a:moveTo>
                  <a:pt x="0" y="0"/>
                </a:moveTo>
                <a:lnTo>
                  <a:pt x="10287000" y="0"/>
                </a:lnTo>
                <a:lnTo>
                  <a:pt x="10287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5000"/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flipV="1">
            <a:off x="15280012" y="7300604"/>
            <a:ext cx="1979288" cy="1957696"/>
          </a:xfrm>
          <a:custGeom>
            <a:avLst/>
            <a:gdLst/>
            <a:ahLst/>
            <a:cxnLst/>
            <a:rect l="l" t="t" r="r" b="b"/>
            <a:pathLst>
              <a:path w="1979288" h="1957696">
                <a:moveTo>
                  <a:pt x="0" y="1957696"/>
                </a:moveTo>
                <a:lnTo>
                  <a:pt x="1979288" y="1957696"/>
                </a:lnTo>
                <a:lnTo>
                  <a:pt x="1979288" y="0"/>
                </a:lnTo>
                <a:lnTo>
                  <a:pt x="0" y="0"/>
                </a:lnTo>
                <a:lnTo>
                  <a:pt x="0" y="1957696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941535" y="1866900"/>
            <a:ext cx="16584465" cy="88941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562"/>
              </a:lnSpc>
            </a:pPr>
            <a:r>
              <a:rPr lang="en-US" sz="5000" b="1" dirty="0">
                <a:solidFill>
                  <a:srgbClr val="004A55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Exploratory Data Analysis &amp; Preprocessing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68BF613-9B37-48E0-9E24-5F589B80AAB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1096" y="899337"/>
            <a:ext cx="2848373" cy="46679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151610BD-3CA4-4734-A35A-AD455A3B1DF6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611"/>
          <a:stretch/>
        </p:blipFill>
        <p:spPr>
          <a:xfrm>
            <a:off x="941535" y="3414802"/>
            <a:ext cx="8115300" cy="543427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425954F-F8FA-4320-A4B5-8A2314FE802D}"/>
              </a:ext>
            </a:extLst>
          </p:cNvPr>
          <p:cNvSpPr txBox="1"/>
          <p:nvPr/>
        </p:nvSpPr>
        <p:spPr>
          <a:xfrm flipH="1">
            <a:off x="2057400" y="9027467"/>
            <a:ext cx="55685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004A55"/>
                </a:solidFill>
                <a:latin typeface="Montserrat" panose="00000500000000000000" pitchFamily="2" charset="0"/>
              </a:rPr>
              <a:t>Figure 3: Absences by Pass/Fail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C61C3F0-E9E0-43C6-BEA7-C05E498CE47E}"/>
              </a:ext>
            </a:extLst>
          </p:cNvPr>
          <p:cNvSpPr txBox="1"/>
          <p:nvPr/>
        </p:nvSpPr>
        <p:spPr>
          <a:xfrm>
            <a:off x="10287000" y="8993056"/>
            <a:ext cx="69723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004A55"/>
                </a:solidFill>
                <a:latin typeface="Montserrat" panose="00000500000000000000" pitchFamily="2" charset="0"/>
              </a:rPr>
              <a:t>Figure 4: Pass/Fail Distribution by Guardian Type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DAFBB72-C60B-4165-9895-4A87C3444FE9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031"/>
          <a:stretch/>
        </p:blipFill>
        <p:spPr>
          <a:xfrm>
            <a:off x="9705180" y="3414802"/>
            <a:ext cx="7820819" cy="5434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11898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9144000" y="0"/>
            <a:ext cx="10287000" cy="10287000"/>
          </a:xfrm>
          <a:custGeom>
            <a:avLst/>
            <a:gdLst/>
            <a:ahLst/>
            <a:cxnLst/>
            <a:rect l="l" t="t" r="r" b="b"/>
            <a:pathLst>
              <a:path w="10287000" h="10287000">
                <a:moveTo>
                  <a:pt x="10287000" y="0"/>
                </a:moveTo>
                <a:lnTo>
                  <a:pt x="0" y="0"/>
                </a:lnTo>
                <a:lnTo>
                  <a:pt x="0" y="10287000"/>
                </a:lnTo>
                <a:lnTo>
                  <a:pt x="10287000" y="10287000"/>
                </a:lnTo>
                <a:lnTo>
                  <a:pt x="10287000" y="0"/>
                </a:lnTo>
                <a:close/>
              </a:path>
            </a:pathLst>
          </a:custGeom>
          <a:blipFill>
            <a:blip r:embed="rId3">
              <a:alphaModFix amt="25000"/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9601200" y="-829734"/>
            <a:ext cx="8686800" cy="11116734"/>
          </a:xfrm>
          <a:custGeom>
            <a:avLst/>
            <a:gdLst/>
            <a:ahLst/>
            <a:cxnLst/>
            <a:rect l="l" t="t" r="r" b="b"/>
            <a:pathLst>
              <a:path w="11617762" h="10287000">
                <a:moveTo>
                  <a:pt x="0" y="0"/>
                </a:moveTo>
                <a:lnTo>
                  <a:pt x="11617762" y="0"/>
                </a:lnTo>
                <a:lnTo>
                  <a:pt x="11617762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1143000" y="0"/>
            <a:ext cx="10287000" cy="10287000"/>
          </a:xfrm>
          <a:custGeom>
            <a:avLst/>
            <a:gdLst/>
            <a:ahLst/>
            <a:cxnLst/>
            <a:rect l="l" t="t" r="r" b="b"/>
            <a:pathLst>
              <a:path w="10287000" h="10287000">
                <a:moveTo>
                  <a:pt x="0" y="0"/>
                </a:moveTo>
                <a:lnTo>
                  <a:pt x="10287000" y="0"/>
                </a:lnTo>
                <a:lnTo>
                  <a:pt x="10287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5000"/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flipV="1">
            <a:off x="15280012" y="7300604"/>
            <a:ext cx="1979288" cy="1957696"/>
          </a:xfrm>
          <a:custGeom>
            <a:avLst/>
            <a:gdLst/>
            <a:ahLst/>
            <a:cxnLst/>
            <a:rect l="l" t="t" r="r" b="b"/>
            <a:pathLst>
              <a:path w="1979288" h="1957696">
                <a:moveTo>
                  <a:pt x="0" y="1957696"/>
                </a:moveTo>
                <a:lnTo>
                  <a:pt x="1979288" y="1957696"/>
                </a:lnTo>
                <a:lnTo>
                  <a:pt x="1979288" y="0"/>
                </a:lnTo>
                <a:lnTo>
                  <a:pt x="0" y="0"/>
                </a:lnTo>
                <a:lnTo>
                  <a:pt x="0" y="1957696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1315700" y="2077742"/>
            <a:ext cx="6091466" cy="6037558"/>
          </a:xfrm>
          <a:custGeom>
            <a:avLst/>
            <a:gdLst/>
            <a:ahLst/>
            <a:cxnLst/>
            <a:rect l="l" t="t" r="r" b="b"/>
            <a:pathLst>
              <a:path w="6872381" h="6447543">
                <a:moveTo>
                  <a:pt x="0" y="0"/>
                </a:moveTo>
                <a:lnTo>
                  <a:pt x="6872381" y="0"/>
                </a:lnTo>
                <a:lnTo>
                  <a:pt x="6872381" y="6447543"/>
                </a:lnTo>
                <a:lnTo>
                  <a:pt x="0" y="644754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1028700" y="1633037"/>
            <a:ext cx="7803867" cy="8894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562"/>
              </a:lnSpc>
            </a:pPr>
            <a:r>
              <a:rPr lang="en-US" sz="5000" b="1" dirty="0">
                <a:solidFill>
                  <a:srgbClr val="004A55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Applied Models</a:t>
            </a:r>
          </a:p>
        </p:txBody>
      </p:sp>
      <p:graphicFrame>
        <p:nvGraphicFramePr>
          <p:cNvPr id="11" name="Table 11">
            <a:extLst>
              <a:ext uri="{FF2B5EF4-FFF2-40B4-BE49-F238E27FC236}">
                <a16:creationId xmlns:a16="http://schemas.microsoft.com/office/drawing/2014/main" id="{61D36916-D707-4CF7-A0A9-F625C78625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5203100"/>
              </p:ext>
            </p:extLst>
          </p:nvPr>
        </p:nvGraphicFramePr>
        <p:xfrm>
          <a:off x="1028700" y="2948945"/>
          <a:ext cx="8724900" cy="5852155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2324100">
                  <a:extLst>
                    <a:ext uri="{9D8B030D-6E8A-4147-A177-3AD203B41FA5}">
                      <a16:colId xmlns:a16="http://schemas.microsoft.com/office/drawing/2014/main" val="339922507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2472218214"/>
                    </a:ext>
                  </a:extLst>
                </a:gridCol>
                <a:gridCol w="3962400">
                  <a:extLst>
                    <a:ext uri="{9D8B030D-6E8A-4147-A177-3AD203B41FA5}">
                      <a16:colId xmlns:a16="http://schemas.microsoft.com/office/drawing/2014/main" val="1320981291"/>
                    </a:ext>
                  </a:extLst>
                </a:gridCol>
              </a:tblGrid>
              <a:tr h="892591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  <a:latin typeface="Montserrat Medium" panose="00000600000000000000" pitchFamily="2" charset="0"/>
                        </a:rPr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  <a:latin typeface="Montserrat Medium" panose="00000600000000000000" pitchFamily="2" charset="0"/>
                        </a:rPr>
                        <a:t>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  <a:latin typeface="Montserrat Medium" panose="00000600000000000000" pitchFamily="2" charset="0"/>
                        </a:rPr>
                        <a:t>Main Features Used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8480330"/>
                  </a:ext>
                </a:extLst>
              </a:tr>
              <a:tr h="1011490">
                <a:tc>
                  <a:txBody>
                    <a:bodyPr/>
                    <a:lstStyle/>
                    <a:p>
                      <a:r>
                        <a:rPr lang="en-US" sz="2800" dirty="0">
                          <a:latin typeface="Montserrat Medium" panose="00000600000000000000" pitchFamily="2" charset="0"/>
                        </a:rPr>
                        <a:t>Logistic Regression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latin typeface="Montserrat Medium" panose="00000600000000000000" pitchFamily="2" charset="0"/>
                        </a:rPr>
                        <a:t>Linear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latin typeface="Montserrat Medium" panose="00000600000000000000" pitchFamily="2" charset="0"/>
                        </a:rPr>
                        <a:t>failures, higher, school, absences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3015774"/>
                  </a:ext>
                </a:extLst>
              </a:tr>
              <a:tr h="1468292">
                <a:tc>
                  <a:txBody>
                    <a:bodyPr/>
                    <a:lstStyle/>
                    <a:p>
                      <a:r>
                        <a:rPr lang="en-US" sz="2800" dirty="0">
                          <a:latin typeface="Montserrat Medium" panose="00000600000000000000" pitchFamily="2" charset="0"/>
                        </a:rPr>
                        <a:t>LASSO Logistic Regression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latin typeface="Montserrat Medium" panose="00000600000000000000" pitchFamily="2" charset="0"/>
                        </a:rPr>
                        <a:t>Regularized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latin typeface="Montserrat Medium" panose="00000600000000000000" pitchFamily="2" charset="0"/>
                        </a:rPr>
                        <a:t>Same as above, with feature selection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6236293"/>
                  </a:ext>
                </a:extLst>
              </a:tr>
              <a:tr h="1468292">
                <a:tc>
                  <a:txBody>
                    <a:bodyPr/>
                    <a:lstStyle/>
                    <a:p>
                      <a:r>
                        <a:rPr lang="en-US" sz="2800" dirty="0">
                          <a:latin typeface="Montserrat Medium" panose="00000600000000000000" pitchFamily="2" charset="0"/>
                        </a:rPr>
                        <a:t>K-Nearest Neighbors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latin typeface="Montserrat Medium" panose="00000600000000000000" pitchFamily="2" charset="0"/>
                        </a:rPr>
                        <a:t>Non-parametric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latin typeface="Montserrat Medium" panose="00000600000000000000" pitchFamily="2" charset="0"/>
                        </a:rPr>
                        <a:t>Same features, dummy-coded and scaled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8696034"/>
                  </a:ext>
                </a:extLst>
              </a:tr>
              <a:tr h="1011490">
                <a:tc>
                  <a:txBody>
                    <a:bodyPr/>
                    <a:lstStyle/>
                    <a:p>
                      <a:r>
                        <a:rPr lang="en-US" sz="2800" dirty="0">
                          <a:latin typeface="Montserrat Medium" panose="00000600000000000000" pitchFamily="2" charset="0"/>
                        </a:rPr>
                        <a:t>Random Forest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latin typeface="Montserrat Medium" panose="00000600000000000000" pitchFamily="2" charset="0"/>
                        </a:rPr>
                        <a:t>Ensemble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latin typeface="Montserrat Medium" panose="00000600000000000000" pitchFamily="2" charset="0"/>
                        </a:rPr>
                        <a:t>All predictors except G3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3866703"/>
                  </a:ext>
                </a:extLst>
              </a:tr>
            </a:tbl>
          </a:graphicData>
        </a:graphic>
      </p:graphicFrame>
      <p:pic>
        <p:nvPicPr>
          <p:cNvPr id="13" name="Picture 12">
            <a:extLst>
              <a:ext uri="{FF2B5EF4-FFF2-40B4-BE49-F238E27FC236}">
                <a16:creationId xmlns:a16="http://schemas.microsoft.com/office/drawing/2014/main" id="{72B7DDDB-E13A-4CBD-BE44-0BF838A36471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4143" y="865262"/>
            <a:ext cx="2848373" cy="46679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AB4520E-302C-4A53-9AB5-8AB06C15B16F}"/>
              </a:ext>
            </a:extLst>
          </p:cNvPr>
          <p:cNvSpPr txBox="1"/>
          <p:nvPr/>
        </p:nvSpPr>
        <p:spPr>
          <a:xfrm flipH="1">
            <a:off x="1906543" y="8996764"/>
            <a:ext cx="63596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004A55"/>
                </a:solidFill>
                <a:latin typeface="Montserrat" panose="00000500000000000000" pitchFamily="2" charset="0"/>
              </a:rPr>
              <a:t>Table 1: Model Types and Key Features 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9144000" y="0"/>
            <a:ext cx="10287000" cy="10287000"/>
          </a:xfrm>
          <a:custGeom>
            <a:avLst/>
            <a:gdLst/>
            <a:ahLst/>
            <a:cxnLst/>
            <a:rect l="l" t="t" r="r" b="b"/>
            <a:pathLst>
              <a:path w="10287000" h="10287000">
                <a:moveTo>
                  <a:pt x="10287000" y="0"/>
                </a:moveTo>
                <a:lnTo>
                  <a:pt x="0" y="0"/>
                </a:lnTo>
                <a:lnTo>
                  <a:pt x="0" y="10287000"/>
                </a:lnTo>
                <a:lnTo>
                  <a:pt x="10287000" y="10287000"/>
                </a:lnTo>
                <a:lnTo>
                  <a:pt x="10287000" y="0"/>
                </a:lnTo>
                <a:close/>
              </a:path>
            </a:pathLst>
          </a:custGeom>
          <a:blipFill>
            <a:blip r:embed="rId2">
              <a:alphaModFix amt="25000"/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9982199" y="0"/>
            <a:ext cx="8305799" cy="10287000"/>
          </a:xfrm>
          <a:custGeom>
            <a:avLst/>
            <a:gdLst/>
            <a:ahLst/>
            <a:cxnLst/>
            <a:rect l="l" t="t" r="r" b="b"/>
            <a:pathLst>
              <a:path w="11617762" h="10287000">
                <a:moveTo>
                  <a:pt x="0" y="0"/>
                </a:moveTo>
                <a:lnTo>
                  <a:pt x="11617762" y="0"/>
                </a:lnTo>
                <a:lnTo>
                  <a:pt x="11617762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1143000" y="-22602"/>
            <a:ext cx="10287000" cy="10287000"/>
          </a:xfrm>
          <a:custGeom>
            <a:avLst/>
            <a:gdLst/>
            <a:ahLst/>
            <a:cxnLst/>
            <a:rect l="l" t="t" r="r" b="b"/>
            <a:pathLst>
              <a:path w="10287000" h="10287000">
                <a:moveTo>
                  <a:pt x="0" y="0"/>
                </a:moveTo>
                <a:lnTo>
                  <a:pt x="10287000" y="0"/>
                </a:lnTo>
                <a:lnTo>
                  <a:pt x="10287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5000"/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flipV="1">
            <a:off x="15725714" y="7023885"/>
            <a:ext cx="1979288" cy="1957696"/>
          </a:xfrm>
          <a:custGeom>
            <a:avLst/>
            <a:gdLst/>
            <a:ahLst/>
            <a:cxnLst/>
            <a:rect l="l" t="t" r="r" b="b"/>
            <a:pathLst>
              <a:path w="1979288" h="1957696">
                <a:moveTo>
                  <a:pt x="0" y="1957696"/>
                </a:moveTo>
                <a:lnTo>
                  <a:pt x="1979288" y="1957696"/>
                </a:lnTo>
                <a:lnTo>
                  <a:pt x="1979288" y="0"/>
                </a:lnTo>
                <a:lnTo>
                  <a:pt x="0" y="0"/>
                </a:lnTo>
                <a:lnTo>
                  <a:pt x="0" y="1957696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7" name="Freeform 7"/>
          <p:cNvSpPr/>
          <p:nvPr/>
        </p:nvSpPr>
        <p:spPr>
          <a:xfrm>
            <a:off x="11920692" y="2152780"/>
            <a:ext cx="5465504" cy="5317670"/>
          </a:xfrm>
          <a:custGeom>
            <a:avLst/>
            <a:gdLst/>
            <a:ahLst/>
            <a:cxnLst/>
            <a:rect l="l" t="t" r="r" b="b"/>
            <a:pathLst>
              <a:path w="7329024" h="5876545">
                <a:moveTo>
                  <a:pt x="0" y="0"/>
                </a:moveTo>
                <a:lnTo>
                  <a:pt x="7329024" y="0"/>
                </a:lnTo>
                <a:lnTo>
                  <a:pt x="7329024" y="5876545"/>
                </a:lnTo>
                <a:lnTo>
                  <a:pt x="0" y="587654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935384" y="1666239"/>
            <a:ext cx="7803867" cy="88941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562"/>
              </a:lnSpc>
            </a:pPr>
            <a:r>
              <a:rPr lang="en-US" sz="5000" b="1" dirty="0">
                <a:solidFill>
                  <a:srgbClr val="004A55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Results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28700" y="4383100"/>
            <a:ext cx="8676623" cy="4285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33"/>
              </a:lnSpc>
            </a:pPr>
            <a:endParaRPr lang="en-US" sz="2595" dirty="0">
              <a:solidFill>
                <a:srgbClr val="004A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15" name="Table 15">
            <a:extLst>
              <a:ext uri="{FF2B5EF4-FFF2-40B4-BE49-F238E27FC236}">
                <a16:creationId xmlns:a16="http://schemas.microsoft.com/office/drawing/2014/main" id="{5165F7BD-8A2A-4AE1-B706-13415211E1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2301697"/>
              </p:ext>
            </p:extLst>
          </p:nvPr>
        </p:nvGraphicFramePr>
        <p:xfrm>
          <a:off x="935384" y="2967593"/>
          <a:ext cx="10401300" cy="4954552"/>
        </p:xfrm>
        <a:graphic>
          <a:graphicData uri="http://schemas.openxmlformats.org/drawingml/2006/table">
            <a:tbl>
              <a:tblPr firstRow="1" bandRow="1">
                <a:tableStyleId>{35758FB7-9AC5-4552-8A53-C91805E547FA}</a:tableStyleId>
              </a:tblPr>
              <a:tblGrid>
                <a:gridCol w="2247900">
                  <a:extLst>
                    <a:ext uri="{9D8B030D-6E8A-4147-A177-3AD203B41FA5}">
                      <a16:colId xmlns:a16="http://schemas.microsoft.com/office/drawing/2014/main" val="4078567847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1334301978"/>
                    </a:ext>
                  </a:extLst>
                </a:gridCol>
                <a:gridCol w="1981200">
                  <a:extLst>
                    <a:ext uri="{9D8B030D-6E8A-4147-A177-3AD203B41FA5}">
                      <a16:colId xmlns:a16="http://schemas.microsoft.com/office/drawing/2014/main" val="2819334538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720113609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1832760106"/>
                    </a:ext>
                  </a:extLst>
                </a:gridCol>
              </a:tblGrid>
              <a:tr h="570394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chemeClr val="tx1"/>
                          </a:solidFill>
                          <a:latin typeface="Montserrat Medium" panose="00000600000000000000" pitchFamily="2" charset="0"/>
                        </a:rPr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  <a:latin typeface="Montserrat Medium" panose="00000600000000000000" pitchFamily="2" charset="0"/>
                        </a:rPr>
                        <a:t>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  <a:latin typeface="Montserrat Medium" panose="00000600000000000000" pitchFamily="2" charset="0"/>
                        </a:rPr>
                        <a:t>AUC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  <a:latin typeface="Montserrat Medium" panose="00000600000000000000" pitchFamily="2" charset="0"/>
                        </a:rPr>
                        <a:t>Sensitivity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  <a:latin typeface="Montserrat Medium" panose="00000600000000000000" pitchFamily="2" charset="0"/>
                        </a:rPr>
                        <a:t>Specificity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1233729"/>
                  </a:ext>
                </a:extLst>
              </a:tr>
              <a:tr h="1033839">
                <a:tc>
                  <a:txBody>
                    <a:bodyPr/>
                    <a:lstStyle/>
                    <a:p>
                      <a:r>
                        <a:rPr lang="en-US" sz="2800" dirty="0">
                          <a:effectLst/>
                          <a:latin typeface="Montserrat Medium" panose="00000600000000000000" pitchFamily="2" charset="0"/>
                        </a:rPr>
                        <a:t>Logistic Regression</a:t>
                      </a:r>
                      <a:endParaRPr lang="en-US" sz="2800" dirty="0">
                        <a:latin typeface="Montserrat Medium" panose="000006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latin typeface="Montserrat Medium" panose="00000600000000000000" pitchFamily="2" charset="0"/>
                        </a:rPr>
                        <a:t>0.8139535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latin typeface="Montserrat Medium" panose="00000600000000000000" pitchFamily="2" charset="0"/>
                        </a:rPr>
                        <a:t>0.8314220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Montserrat Medium" panose="00000600000000000000" pitchFamily="2" charset="0"/>
                        </a:rPr>
                        <a:t>30%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Montserrat Medium" panose="00000600000000000000" pitchFamily="2" charset="0"/>
                        </a:rPr>
                        <a:t>97%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3623135"/>
                  </a:ext>
                </a:extLst>
              </a:tr>
              <a:tr h="1033839">
                <a:tc>
                  <a:txBody>
                    <a:bodyPr/>
                    <a:lstStyle/>
                    <a:p>
                      <a:r>
                        <a:rPr lang="en-US" sz="2800" dirty="0">
                          <a:latin typeface="Montserrat Medium" panose="00000600000000000000" pitchFamily="2" charset="0"/>
                        </a:rPr>
                        <a:t>LASSO </a:t>
                      </a:r>
                      <a:r>
                        <a:rPr lang="en-US" sz="2800" dirty="0">
                          <a:effectLst/>
                          <a:latin typeface="Montserrat Medium" panose="00000600000000000000" pitchFamily="2" charset="0"/>
                        </a:rPr>
                        <a:t>Logistic Regression</a:t>
                      </a:r>
                      <a:endParaRPr lang="en-US" sz="2800" dirty="0">
                        <a:latin typeface="Montserrat Medium" panose="000006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latin typeface="Montserrat Medium" panose="00000600000000000000" pitchFamily="2" charset="0"/>
                        </a:rPr>
                        <a:t>0.8139535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latin typeface="Montserrat Medium" panose="00000600000000000000" pitchFamily="2" charset="0"/>
                        </a:rPr>
                        <a:t>0.8314220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Montserrat Medium" panose="00000600000000000000" pitchFamily="2" charset="0"/>
                        </a:rPr>
                        <a:t>30%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Montserrat Medium" panose="00000600000000000000" pitchFamily="2" charset="0"/>
                        </a:rPr>
                        <a:t>98%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1148619"/>
                  </a:ext>
                </a:extLst>
              </a:tr>
              <a:tr h="1033839">
                <a:tc>
                  <a:txBody>
                    <a:bodyPr/>
                    <a:lstStyle/>
                    <a:p>
                      <a:r>
                        <a:rPr lang="en-US" sz="2800" dirty="0">
                          <a:latin typeface="Montserrat Medium" panose="00000600000000000000" pitchFamily="2" charset="0"/>
                        </a:rPr>
                        <a:t>K-Nearest Neighbors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latin typeface="Montserrat Medium" panose="00000600000000000000" pitchFamily="2" charset="0"/>
                        </a:rPr>
                        <a:t>0.8062016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latin typeface="Montserrat Medium" panose="00000600000000000000" pitchFamily="2" charset="0"/>
                        </a:rPr>
                        <a:t>0.8431193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Montserrat Medium" panose="00000600000000000000" pitchFamily="2" charset="0"/>
                        </a:rPr>
                        <a:t>40%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Montserrat Medium" panose="00000600000000000000" pitchFamily="2" charset="0"/>
                        </a:rPr>
                        <a:t>94%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9872738"/>
                  </a:ext>
                </a:extLst>
              </a:tr>
              <a:tr h="570394">
                <a:tc>
                  <a:txBody>
                    <a:bodyPr/>
                    <a:lstStyle/>
                    <a:p>
                      <a:r>
                        <a:rPr lang="en-US" sz="2800" dirty="0">
                          <a:effectLst/>
                          <a:latin typeface="Montserrat Medium" panose="00000600000000000000" pitchFamily="2" charset="0"/>
                        </a:rPr>
                        <a:t>Random Forest</a:t>
                      </a:r>
                      <a:endParaRPr lang="en-US" sz="2800" dirty="0">
                        <a:latin typeface="Montserrat Medium" panose="000006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latin typeface="Montserrat Medium" panose="00000600000000000000" pitchFamily="2" charset="0"/>
                        </a:rPr>
                        <a:t>0.8372093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latin typeface="Montserrat Medium" panose="00000600000000000000" pitchFamily="2" charset="0"/>
                        </a:rPr>
                        <a:t>0.8192661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Montserrat Medium" panose="00000600000000000000" pitchFamily="2" charset="0"/>
                        </a:rPr>
                        <a:t>25%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Montserrat Medium" panose="00000600000000000000" pitchFamily="2" charset="0"/>
                        </a:rPr>
                        <a:t>99%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8254283"/>
                  </a:ext>
                </a:extLst>
              </a:tr>
            </a:tbl>
          </a:graphicData>
        </a:graphic>
      </p:graphicFrame>
      <p:pic>
        <p:nvPicPr>
          <p:cNvPr id="17" name="Picture 16">
            <a:extLst>
              <a:ext uri="{FF2B5EF4-FFF2-40B4-BE49-F238E27FC236}">
                <a16:creationId xmlns:a16="http://schemas.microsoft.com/office/drawing/2014/main" id="{E64D9B57-625D-4BB1-895F-A43502D49AD5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700" y="899337"/>
            <a:ext cx="2848373" cy="46679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7F75D49-3D5D-4716-9F58-98EA02782244}"/>
              </a:ext>
            </a:extLst>
          </p:cNvPr>
          <p:cNvSpPr txBox="1"/>
          <p:nvPr/>
        </p:nvSpPr>
        <p:spPr>
          <a:xfrm>
            <a:off x="1930847" y="8195904"/>
            <a:ext cx="68084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004A55"/>
                </a:solidFill>
                <a:latin typeface="Montserrat" panose="00000500000000000000" pitchFamily="2" charset="0"/>
              </a:rPr>
              <a:t>Table 2: Comparison of Model Results 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9144000" y="0"/>
            <a:ext cx="10287000" cy="10287000"/>
          </a:xfrm>
          <a:custGeom>
            <a:avLst/>
            <a:gdLst/>
            <a:ahLst/>
            <a:cxnLst/>
            <a:rect l="l" t="t" r="r" b="b"/>
            <a:pathLst>
              <a:path w="10287000" h="10287000">
                <a:moveTo>
                  <a:pt x="10287000" y="0"/>
                </a:moveTo>
                <a:lnTo>
                  <a:pt x="0" y="0"/>
                </a:lnTo>
                <a:lnTo>
                  <a:pt x="0" y="10287000"/>
                </a:lnTo>
                <a:lnTo>
                  <a:pt x="10287000" y="10287000"/>
                </a:lnTo>
                <a:lnTo>
                  <a:pt x="10287000" y="0"/>
                </a:lnTo>
                <a:close/>
              </a:path>
            </a:pathLst>
          </a:custGeom>
          <a:blipFill>
            <a:blip r:embed="rId2">
              <a:alphaModFix amt="25000"/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9705322" y="-821268"/>
            <a:ext cx="8582677" cy="11108268"/>
          </a:xfrm>
          <a:custGeom>
            <a:avLst/>
            <a:gdLst/>
            <a:ahLst/>
            <a:cxnLst/>
            <a:rect l="l" t="t" r="r" b="b"/>
            <a:pathLst>
              <a:path w="11617762" h="10287000">
                <a:moveTo>
                  <a:pt x="0" y="0"/>
                </a:moveTo>
                <a:lnTo>
                  <a:pt x="11617762" y="0"/>
                </a:lnTo>
                <a:lnTo>
                  <a:pt x="11617762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1143000" y="0"/>
            <a:ext cx="10287000" cy="10287000"/>
          </a:xfrm>
          <a:custGeom>
            <a:avLst/>
            <a:gdLst/>
            <a:ahLst/>
            <a:cxnLst/>
            <a:rect l="l" t="t" r="r" b="b"/>
            <a:pathLst>
              <a:path w="10287000" h="10287000">
                <a:moveTo>
                  <a:pt x="0" y="0"/>
                </a:moveTo>
                <a:lnTo>
                  <a:pt x="10287000" y="0"/>
                </a:lnTo>
                <a:lnTo>
                  <a:pt x="10287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5000"/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flipV="1">
            <a:off x="15280012" y="7300604"/>
            <a:ext cx="1979288" cy="1957696"/>
          </a:xfrm>
          <a:custGeom>
            <a:avLst/>
            <a:gdLst/>
            <a:ahLst/>
            <a:cxnLst/>
            <a:rect l="l" t="t" r="r" b="b"/>
            <a:pathLst>
              <a:path w="1979288" h="1957696">
                <a:moveTo>
                  <a:pt x="0" y="1957696"/>
                </a:moveTo>
                <a:lnTo>
                  <a:pt x="1979288" y="1957696"/>
                </a:lnTo>
                <a:lnTo>
                  <a:pt x="1979288" y="0"/>
                </a:lnTo>
                <a:lnTo>
                  <a:pt x="0" y="0"/>
                </a:lnTo>
                <a:lnTo>
                  <a:pt x="0" y="1957696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1125200" y="3592355"/>
            <a:ext cx="5486400" cy="4599145"/>
          </a:xfrm>
          <a:custGeom>
            <a:avLst/>
            <a:gdLst/>
            <a:ahLst/>
            <a:cxnLst/>
            <a:rect l="l" t="t" r="r" b="b"/>
            <a:pathLst>
              <a:path w="6242774" h="4994219">
                <a:moveTo>
                  <a:pt x="0" y="0"/>
                </a:moveTo>
                <a:lnTo>
                  <a:pt x="6242774" y="0"/>
                </a:lnTo>
                <a:lnTo>
                  <a:pt x="6242774" y="4994219"/>
                </a:lnTo>
                <a:lnTo>
                  <a:pt x="0" y="499421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1028700" y="1820758"/>
            <a:ext cx="9601465" cy="8894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562"/>
              </a:lnSpc>
            </a:pPr>
            <a:r>
              <a:rPr lang="en-US" sz="5000" b="1" dirty="0">
                <a:solidFill>
                  <a:srgbClr val="004A55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Discussion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28700" y="3164800"/>
            <a:ext cx="8676623" cy="63904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7200" indent="-457200" algn="l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800" dirty="0">
                <a:solidFill>
                  <a:srgbClr val="004A55"/>
                </a:solidFill>
                <a:latin typeface="Montserrat"/>
                <a:ea typeface="Montserrat"/>
                <a:cs typeface="Montserrat"/>
                <a:sym typeface="Montserrat"/>
              </a:rPr>
              <a:t>Key predictors: absences, prior failures, school attended.</a:t>
            </a:r>
          </a:p>
          <a:p>
            <a:pPr marL="457200" indent="-457200" algn="l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800" b="1" dirty="0">
                <a:solidFill>
                  <a:srgbClr val="004A55"/>
                </a:solidFill>
                <a:latin typeface="Montserrat"/>
                <a:ea typeface="Montserrat"/>
                <a:cs typeface="Montserrat"/>
                <a:sym typeface="Montserrat"/>
              </a:rPr>
              <a:t>Model trade-offs:  </a:t>
            </a:r>
          </a:p>
          <a:p>
            <a:pPr marL="914400" lvl="1" indent="-4572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2800" dirty="0">
                <a:solidFill>
                  <a:srgbClr val="004A55"/>
                </a:solidFill>
                <a:latin typeface="Montserrat"/>
                <a:ea typeface="Montserrat"/>
                <a:cs typeface="Montserrat"/>
                <a:sym typeface="Montserrat"/>
              </a:rPr>
              <a:t>Random Forest: highest accuracy, low sensitivity.</a:t>
            </a:r>
          </a:p>
          <a:p>
            <a:pPr marL="914400" lvl="1" indent="-4572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2800" dirty="0">
                <a:solidFill>
                  <a:srgbClr val="004A55"/>
                </a:solidFill>
                <a:latin typeface="Montserrat"/>
                <a:ea typeface="Montserrat"/>
                <a:cs typeface="Montserrat"/>
                <a:sym typeface="Montserrat"/>
              </a:rPr>
              <a:t>KNN: best at finding at-risk students, more false positives.</a:t>
            </a:r>
          </a:p>
          <a:p>
            <a:pPr marL="457200" indent="-457200" algn="l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800" b="1" dirty="0">
                <a:solidFill>
                  <a:srgbClr val="004A55"/>
                </a:solidFill>
                <a:latin typeface="Montserrat"/>
                <a:ea typeface="Montserrat"/>
                <a:cs typeface="Montserrat"/>
                <a:sym typeface="Montserrat"/>
              </a:rPr>
              <a:t>Limitations: </a:t>
            </a:r>
            <a:r>
              <a:rPr lang="en-US" sz="2800" dirty="0">
                <a:solidFill>
                  <a:srgbClr val="004A55"/>
                </a:solidFill>
                <a:latin typeface="Montserrat"/>
                <a:ea typeface="Montserrat"/>
                <a:cs typeface="Montserrat"/>
                <a:sym typeface="Montserrat"/>
              </a:rPr>
              <a:t>class imbalance, low sensitivity, limited generalizability.</a:t>
            </a:r>
          </a:p>
          <a:p>
            <a:pPr marL="457200" indent="-457200" algn="l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800" dirty="0">
                <a:solidFill>
                  <a:srgbClr val="004A55"/>
                </a:solidFill>
                <a:latin typeface="Montserrat"/>
                <a:ea typeface="Montserrat"/>
                <a:cs typeface="Montserrat"/>
                <a:sym typeface="Montserrat"/>
              </a:rPr>
              <a:t>Use with teacher input for best results.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21C87D9-40F5-4436-8A98-D33F7D86BD0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700" y="899337"/>
            <a:ext cx="2848373" cy="46679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9144000" y="0"/>
            <a:ext cx="10287000" cy="10287000"/>
          </a:xfrm>
          <a:custGeom>
            <a:avLst/>
            <a:gdLst/>
            <a:ahLst/>
            <a:cxnLst/>
            <a:rect l="l" t="t" r="r" b="b"/>
            <a:pathLst>
              <a:path w="10287000" h="10287000">
                <a:moveTo>
                  <a:pt x="10287000" y="0"/>
                </a:moveTo>
                <a:lnTo>
                  <a:pt x="0" y="0"/>
                </a:lnTo>
                <a:lnTo>
                  <a:pt x="0" y="10287000"/>
                </a:lnTo>
                <a:lnTo>
                  <a:pt x="10287000" y="10287000"/>
                </a:lnTo>
                <a:lnTo>
                  <a:pt x="10287000" y="0"/>
                </a:lnTo>
                <a:close/>
              </a:path>
            </a:pathLst>
          </a:custGeom>
          <a:blipFill>
            <a:blip r:embed="rId2">
              <a:alphaModFix amt="25000"/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0210800" y="-725714"/>
            <a:ext cx="8077199" cy="11012714"/>
          </a:xfrm>
          <a:custGeom>
            <a:avLst/>
            <a:gdLst/>
            <a:ahLst/>
            <a:cxnLst/>
            <a:rect l="l" t="t" r="r" b="b"/>
            <a:pathLst>
              <a:path w="11617762" h="10287000">
                <a:moveTo>
                  <a:pt x="0" y="0"/>
                </a:moveTo>
                <a:lnTo>
                  <a:pt x="11617762" y="0"/>
                </a:lnTo>
                <a:lnTo>
                  <a:pt x="11617762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1143000" y="-571500"/>
            <a:ext cx="10287000" cy="10287000"/>
          </a:xfrm>
          <a:custGeom>
            <a:avLst/>
            <a:gdLst/>
            <a:ahLst/>
            <a:cxnLst/>
            <a:rect l="l" t="t" r="r" b="b"/>
            <a:pathLst>
              <a:path w="10287000" h="10287000">
                <a:moveTo>
                  <a:pt x="0" y="0"/>
                </a:moveTo>
                <a:lnTo>
                  <a:pt x="10287000" y="0"/>
                </a:lnTo>
                <a:lnTo>
                  <a:pt x="10287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5000"/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flipV="1">
            <a:off x="15280012" y="7300604"/>
            <a:ext cx="1979288" cy="1957696"/>
          </a:xfrm>
          <a:custGeom>
            <a:avLst/>
            <a:gdLst/>
            <a:ahLst/>
            <a:cxnLst/>
            <a:rect l="l" t="t" r="r" b="b"/>
            <a:pathLst>
              <a:path w="1979288" h="1957696">
                <a:moveTo>
                  <a:pt x="0" y="1957696"/>
                </a:moveTo>
                <a:lnTo>
                  <a:pt x="1979288" y="1957696"/>
                </a:lnTo>
                <a:lnTo>
                  <a:pt x="1979288" y="0"/>
                </a:lnTo>
                <a:lnTo>
                  <a:pt x="0" y="0"/>
                </a:lnTo>
                <a:lnTo>
                  <a:pt x="0" y="1957696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1734799" y="3390900"/>
            <a:ext cx="4970541" cy="4876800"/>
          </a:xfrm>
          <a:custGeom>
            <a:avLst/>
            <a:gdLst/>
            <a:ahLst/>
            <a:cxnLst/>
            <a:rect l="l" t="t" r="r" b="b"/>
            <a:pathLst>
              <a:path w="5328927" h="5498893">
                <a:moveTo>
                  <a:pt x="0" y="0"/>
                </a:moveTo>
                <a:lnTo>
                  <a:pt x="5328927" y="0"/>
                </a:lnTo>
                <a:lnTo>
                  <a:pt x="5328927" y="5498893"/>
                </a:lnTo>
                <a:lnTo>
                  <a:pt x="0" y="549889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1028700" y="1767547"/>
            <a:ext cx="7803867" cy="8894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562"/>
              </a:lnSpc>
            </a:pPr>
            <a:r>
              <a:rPr lang="en-US" sz="5000" b="1" dirty="0">
                <a:solidFill>
                  <a:srgbClr val="004A55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Conclusion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28700" y="2867187"/>
            <a:ext cx="9123440" cy="639046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 algn="l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800" dirty="0">
                <a:solidFill>
                  <a:srgbClr val="004A55"/>
                </a:solidFill>
                <a:latin typeface="Montserrat"/>
                <a:ea typeface="Montserrat"/>
                <a:cs typeface="Montserrat"/>
                <a:sym typeface="Montserrat"/>
              </a:rPr>
              <a:t>Data science approach provides actionable early intervention insights for Portuguese language courses.</a:t>
            </a:r>
          </a:p>
          <a:p>
            <a:pPr marL="457200" indent="-457200" algn="l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800" dirty="0">
                <a:solidFill>
                  <a:srgbClr val="004A55"/>
                </a:solidFill>
                <a:latin typeface="Montserrat"/>
                <a:ea typeface="Montserrat"/>
                <a:cs typeface="Montserrat"/>
                <a:sym typeface="Montserrat"/>
              </a:rPr>
              <a:t>Random Forest is best for overall accuracy; KNN is best for detecting at-risk students.</a:t>
            </a:r>
          </a:p>
          <a:p>
            <a:pPr marL="457200" indent="-457200" algn="l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800" b="1" dirty="0">
                <a:solidFill>
                  <a:srgbClr val="004A55"/>
                </a:solidFill>
                <a:latin typeface="Montserrat"/>
                <a:ea typeface="Montserrat"/>
                <a:cs typeface="Montserrat"/>
                <a:sym typeface="Montserrat"/>
              </a:rPr>
              <a:t>Future Work:</a:t>
            </a: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800" dirty="0">
                <a:solidFill>
                  <a:srgbClr val="004A55"/>
                </a:solidFill>
                <a:latin typeface="Montserrat"/>
                <a:ea typeface="Montserrat"/>
                <a:cs typeface="Montserrat"/>
                <a:sym typeface="Montserrat"/>
              </a:rPr>
              <a:t>Address class imbalance.</a:t>
            </a: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800" dirty="0">
                <a:solidFill>
                  <a:srgbClr val="004A55"/>
                </a:solidFill>
                <a:latin typeface="Montserrat"/>
                <a:ea typeface="Montserrat"/>
                <a:cs typeface="Montserrat"/>
                <a:sym typeface="Montserrat"/>
              </a:rPr>
              <a:t>Explore additional features (e.g., </a:t>
            </a:r>
            <a:r>
              <a:rPr lang="en-US" sz="2800" dirty="0" err="1">
                <a:solidFill>
                  <a:srgbClr val="004A55"/>
                </a:solidFill>
                <a:latin typeface="Montserrat"/>
                <a:ea typeface="Montserrat"/>
                <a:cs typeface="Montserrat"/>
                <a:sym typeface="Montserrat"/>
              </a:rPr>
              <a:t>behavioural</a:t>
            </a:r>
            <a:r>
              <a:rPr lang="en-US" sz="2800" dirty="0">
                <a:solidFill>
                  <a:srgbClr val="004A55"/>
                </a:solidFill>
                <a:latin typeface="Montserrat"/>
                <a:ea typeface="Montserrat"/>
                <a:cs typeface="Montserrat"/>
                <a:sym typeface="Montserrat"/>
              </a:rPr>
              <a:t> data).</a:t>
            </a: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800" dirty="0">
                <a:solidFill>
                  <a:srgbClr val="004A55"/>
                </a:solidFill>
                <a:latin typeface="Montserrat"/>
                <a:ea typeface="Montserrat"/>
                <a:cs typeface="Montserrat"/>
                <a:sym typeface="Montserrat"/>
              </a:rPr>
              <a:t>Validate on new cohorts and other subjects.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0AA1AF3B-8791-42A6-ADEB-3154674F2B92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700" y="831093"/>
            <a:ext cx="2848373" cy="46679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9144000" y="0"/>
            <a:ext cx="10287000" cy="10287000"/>
          </a:xfrm>
          <a:custGeom>
            <a:avLst/>
            <a:gdLst/>
            <a:ahLst/>
            <a:cxnLst/>
            <a:rect l="l" t="t" r="r" b="b"/>
            <a:pathLst>
              <a:path w="10287000" h="10287000">
                <a:moveTo>
                  <a:pt x="10287000" y="0"/>
                </a:moveTo>
                <a:lnTo>
                  <a:pt x="0" y="0"/>
                </a:lnTo>
                <a:lnTo>
                  <a:pt x="0" y="10287000"/>
                </a:lnTo>
                <a:lnTo>
                  <a:pt x="10287000" y="10287000"/>
                </a:lnTo>
                <a:lnTo>
                  <a:pt x="10287000" y="0"/>
                </a:lnTo>
                <a:close/>
              </a:path>
            </a:pathLst>
          </a:custGeom>
          <a:blipFill>
            <a:blip r:embed="rId2">
              <a:alphaModFix amt="25000"/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8458200" y="-114300"/>
            <a:ext cx="9829800" cy="10401300"/>
          </a:xfrm>
          <a:custGeom>
            <a:avLst/>
            <a:gdLst/>
            <a:ahLst/>
            <a:cxnLst/>
            <a:rect l="l" t="t" r="r" b="b"/>
            <a:pathLst>
              <a:path w="11617762" h="10287000">
                <a:moveTo>
                  <a:pt x="0" y="0"/>
                </a:moveTo>
                <a:lnTo>
                  <a:pt x="11617762" y="0"/>
                </a:lnTo>
                <a:lnTo>
                  <a:pt x="11617762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1143000" y="-342900"/>
            <a:ext cx="10287000" cy="10287000"/>
          </a:xfrm>
          <a:custGeom>
            <a:avLst/>
            <a:gdLst/>
            <a:ahLst/>
            <a:cxnLst/>
            <a:rect l="l" t="t" r="r" b="b"/>
            <a:pathLst>
              <a:path w="10287000" h="10287000">
                <a:moveTo>
                  <a:pt x="0" y="0"/>
                </a:moveTo>
                <a:lnTo>
                  <a:pt x="10287000" y="0"/>
                </a:lnTo>
                <a:lnTo>
                  <a:pt x="10287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5000"/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6" name="Freeform 6"/>
          <p:cNvSpPr/>
          <p:nvPr/>
        </p:nvSpPr>
        <p:spPr>
          <a:xfrm flipV="1">
            <a:off x="15280012" y="7300604"/>
            <a:ext cx="1979288" cy="1957696"/>
          </a:xfrm>
          <a:custGeom>
            <a:avLst/>
            <a:gdLst/>
            <a:ahLst/>
            <a:cxnLst/>
            <a:rect l="l" t="t" r="r" b="b"/>
            <a:pathLst>
              <a:path w="1979288" h="1957696">
                <a:moveTo>
                  <a:pt x="0" y="1957696"/>
                </a:moveTo>
                <a:lnTo>
                  <a:pt x="1979288" y="1957696"/>
                </a:lnTo>
                <a:lnTo>
                  <a:pt x="1979288" y="0"/>
                </a:lnTo>
                <a:lnTo>
                  <a:pt x="0" y="0"/>
                </a:lnTo>
                <a:lnTo>
                  <a:pt x="0" y="1957696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9829800" y="2030025"/>
            <a:ext cx="6858000" cy="6771075"/>
          </a:xfrm>
          <a:custGeom>
            <a:avLst/>
            <a:gdLst/>
            <a:ahLst/>
            <a:cxnLst/>
            <a:rect l="l" t="t" r="r" b="b"/>
            <a:pathLst>
              <a:path w="7403105" h="7039680">
                <a:moveTo>
                  <a:pt x="0" y="0"/>
                </a:moveTo>
                <a:lnTo>
                  <a:pt x="7403106" y="0"/>
                </a:lnTo>
                <a:lnTo>
                  <a:pt x="7403106" y="7039680"/>
                </a:lnTo>
                <a:lnTo>
                  <a:pt x="0" y="703968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1028700" y="3500164"/>
            <a:ext cx="8115300" cy="14619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405"/>
              </a:lnSpc>
            </a:pPr>
            <a:r>
              <a:rPr lang="en-US" sz="9600" b="1" dirty="0">
                <a:solidFill>
                  <a:srgbClr val="004A55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Thank You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C18B89C-18DF-4348-BEF4-8096143E8BFC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700" y="815623"/>
            <a:ext cx="2848373" cy="46679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9144000" y="0"/>
            <a:ext cx="10287000" cy="10287000"/>
          </a:xfrm>
          <a:custGeom>
            <a:avLst/>
            <a:gdLst/>
            <a:ahLst/>
            <a:cxnLst/>
            <a:rect l="l" t="t" r="r" b="b"/>
            <a:pathLst>
              <a:path w="10287000" h="10287000">
                <a:moveTo>
                  <a:pt x="10287000" y="0"/>
                </a:moveTo>
                <a:lnTo>
                  <a:pt x="0" y="0"/>
                </a:lnTo>
                <a:lnTo>
                  <a:pt x="0" y="10287000"/>
                </a:lnTo>
                <a:lnTo>
                  <a:pt x="10287000" y="10287000"/>
                </a:lnTo>
                <a:lnTo>
                  <a:pt x="10287000" y="0"/>
                </a:lnTo>
                <a:close/>
              </a:path>
            </a:pathLst>
          </a:custGeom>
          <a:blipFill>
            <a:blip r:embed="rId2">
              <a:alphaModFix amt="25000"/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1143000" y="-342900"/>
            <a:ext cx="10287000" cy="10287000"/>
          </a:xfrm>
          <a:custGeom>
            <a:avLst/>
            <a:gdLst/>
            <a:ahLst/>
            <a:cxnLst/>
            <a:rect l="l" t="t" r="r" b="b"/>
            <a:pathLst>
              <a:path w="10287000" h="10287000">
                <a:moveTo>
                  <a:pt x="0" y="0"/>
                </a:moveTo>
                <a:lnTo>
                  <a:pt x="10287000" y="0"/>
                </a:lnTo>
                <a:lnTo>
                  <a:pt x="10287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5000"/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6" name="Freeform 6"/>
          <p:cNvSpPr/>
          <p:nvPr/>
        </p:nvSpPr>
        <p:spPr>
          <a:xfrm flipV="1">
            <a:off x="15280012" y="7300604"/>
            <a:ext cx="1979288" cy="1957696"/>
          </a:xfrm>
          <a:custGeom>
            <a:avLst/>
            <a:gdLst/>
            <a:ahLst/>
            <a:cxnLst/>
            <a:rect l="l" t="t" r="r" b="b"/>
            <a:pathLst>
              <a:path w="1979288" h="1957696">
                <a:moveTo>
                  <a:pt x="0" y="1957696"/>
                </a:moveTo>
                <a:lnTo>
                  <a:pt x="1979288" y="1957696"/>
                </a:lnTo>
                <a:lnTo>
                  <a:pt x="1979288" y="0"/>
                </a:lnTo>
                <a:lnTo>
                  <a:pt x="0" y="0"/>
                </a:lnTo>
                <a:lnTo>
                  <a:pt x="0" y="1957696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C18B89C-18DF-4348-BEF4-8096143E8BF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700" y="815623"/>
            <a:ext cx="2848373" cy="466790"/>
          </a:xfrm>
          <a:prstGeom prst="rect">
            <a:avLst/>
          </a:prstGeo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866F0356-80F4-46CD-A8F5-ED256624D6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7800" y="3399835"/>
            <a:ext cx="16535400" cy="57441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-457056" tIns="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514350" marR="0" lvl="0" indent="-5143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004A55"/>
                </a:solidFill>
                <a:effectLst/>
                <a:latin typeface="Montserrat" panose="00000500000000000000" pitchFamily="2" charset="0"/>
                <a:cs typeface="Times New Roman" panose="02020603050405020304" pitchFamily="18" charset="0"/>
              </a:rPr>
              <a:t>Baker, R. S., &amp;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rgbClr val="004A55"/>
                </a:solidFill>
                <a:effectLst/>
                <a:latin typeface="Montserrat" panose="00000500000000000000" pitchFamily="2" charset="0"/>
                <a:cs typeface="Times New Roman" panose="02020603050405020304" pitchFamily="18" charset="0"/>
              </a:rPr>
              <a:t>Inventado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004A55"/>
                </a:solidFill>
                <a:effectLst/>
                <a:latin typeface="Montserrat" panose="00000500000000000000" pitchFamily="2" charset="0"/>
                <a:cs typeface="Times New Roman" panose="02020603050405020304" pitchFamily="18" charset="0"/>
              </a:rPr>
              <a:t>, P. S. (2014). Educational data mining and learning Analytics. In </a:t>
            </a:r>
            <a:r>
              <a:rPr kumimoji="0" lang="en-US" altLang="en-US" sz="2800" b="0" i="1" u="none" strike="noStrike" cap="none" normalizeH="0" baseline="0" dirty="0">
                <a:ln>
                  <a:noFill/>
                </a:ln>
                <a:solidFill>
                  <a:srgbClr val="004A55"/>
                </a:solidFill>
                <a:effectLst/>
                <a:latin typeface="Montserrat" panose="00000500000000000000" pitchFamily="2" charset="0"/>
                <a:cs typeface="Times New Roman" panose="02020603050405020304" pitchFamily="18" charset="0"/>
              </a:rPr>
              <a:t>Springer eBooks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004A55"/>
                </a:solidFill>
                <a:effectLst/>
                <a:latin typeface="Montserrat" panose="00000500000000000000" pitchFamily="2" charset="0"/>
                <a:cs typeface="Times New Roman" panose="02020603050405020304" pitchFamily="18" charset="0"/>
              </a:rPr>
              <a:t> (pp. 61–75). https://doi.org/10.1007/978-1-4614-3305-7_4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rgbClr val="004A55"/>
              </a:solidFill>
              <a:effectLst/>
              <a:latin typeface="Montserrat" panose="00000500000000000000" pitchFamily="2" charset="0"/>
            </a:endParaRPr>
          </a:p>
          <a:p>
            <a:pPr marL="514350" marR="0" lvl="0" indent="-5143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lang="en-US" sz="2800" b="0" i="0" dirty="0">
                <a:solidFill>
                  <a:srgbClr val="004A55"/>
                </a:solidFill>
                <a:effectLst/>
                <a:latin typeface="Montserrat" panose="00000500000000000000" pitchFamily="2" charset="0"/>
              </a:rPr>
              <a:t>Cortez, P., &amp; Silva, A.M. (2008). Using data mining to predict secondary school student performance.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rgbClr val="004A55"/>
              </a:solidFill>
              <a:effectLst/>
              <a:latin typeface="Montserrat" panose="00000500000000000000" pitchFamily="2" charset="0"/>
              <a:cs typeface="Times New Roman" panose="02020603050405020304" pitchFamily="18" charset="0"/>
            </a:endParaRPr>
          </a:p>
          <a:p>
            <a:pPr marL="514350" marR="0" lvl="0" indent="-5143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004A55"/>
                </a:solidFill>
                <a:effectLst/>
                <a:latin typeface="Montserrat" panose="00000500000000000000" pitchFamily="2" charset="0"/>
                <a:cs typeface="Times New Roman" panose="02020603050405020304" pitchFamily="18" charset="0"/>
              </a:rPr>
              <a:t>Kuhn, M., &amp; Johnson, K. (2013). Applied Predictive Modeling. In </a:t>
            </a:r>
            <a:r>
              <a:rPr kumimoji="0" lang="en-US" altLang="en-US" sz="2800" b="0" i="1" u="none" strike="noStrike" cap="none" normalizeH="0" baseline="0" dirty="0">
                <a:ln>
                  <a:noFill/>
                </a:ln>
                <a:solidFill>
                  <a:srgbClr val="004A55"/>
                </a:solidFill>
                <a:effectLst/>
                <a:latin typeface="Montserrat" panose="00000500000000000000" pitchFamily="2" charset="0"/>
                <a:cs typeface="Times New Roman" panose="02020603050405020304" pitchFamily="18" charset="0"/>
              </a:rPr>
              <a:t>Springer eBooks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004A55"/>
                </a:solidFill>
                <a:effectLst/>
                <a:latin typeface="Montserrat" panose="00000500000000000000" pitchFamily="2" charset="0"/>
                <a:cs typeface="Times New Roman" panose="02020603050405020304" pitchFamily="18" charset="0"/>
              </a:rPr>
              <a:t>. https://doi.org/10.1007/978-1-4614-6849-3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rgbClr val="004A55"/>
              </a:solidFill>
              <a:effectLst/>
              <a:latin typeface="Montserrat" panose="00000500000000000000" pitchFamily="2" charset="0"/>
            </a:endParaRPr>
          </a:p>
          <a:p>
            <a:pPr marL="514350" marR="0" lvl="0" indent="-5143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004A55"/>
                </a:solidFill>
                <a:effectLst/>
                <a:latin typeface="Montserrat" panose="00000500000000000000" pitchFamily="2" charset="0"/>
                <a:cs typeface="Times New Roman" panose="02020603050405020304" pitchFamily="18" charset="0"/>
              </a:rPr>
              <a:t>Romero, C., &amp; Ventura, S. (2020). Educational data mining and learning analytics: An updated survey. </a:t>
            </a:r>
            <a:r>
              <a:rPr kumimoji="0" lang="en-US" altLang="en-US" sz="2800" b="0" i="1" u="none" strike="noStrike" cap="none" normalizeH="0" baseline="0" dirty="0">
                <a:ln>
                  <a:noFill/>
                </a:ln>
                <a:solidFill>
                  <a:srgbClr val="004A55"/>
                </a:solidFill>
                <a:effectLst/>
                <a:latin typeface="Montserrat" panose="00000500000000000000" pitchFamily="2" charset="0"/>
                <a:cs typeface="Times New Roman" panose="02020603050405020304" pitchFamily="18" charset="0"/>
              </a:rPr>
              <a:t>Wiley Interdisciplinary Reviews Data Mining and Knowledge Discovery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004A55"/>
                </a:solidFill>
                <a:effectLst/>
                <a:latin typeface="Montserrat" panose="00000500000000000000" pitchFamily="2" charset="0"/>
                <a:cs typeface="Times New Roman" panose="02020603050405020304" pitchFamily="18" charset="0"/>
              </a:rPr>
              <a:t>, </a:t>
            </a:r>
            <a:r>
              <a:rPr kumimoji="0" lang="en-US" altLang="en-US" sz="2800" b="0" i="1" u="none" strike="noStrike" cap="none" normalizeH="0" baseline="0" dirty="0">
                <a:ln>
                  <a:noFill/>
                </a:ln>
                <a:solidFill>
                  <a:srgbClr val="004A55"/>
                </a:solidFill>
                <a:effectLst/>
                <a:latin typeface="Montserrat" panose="00000500000000000000" pitchFamily="2" charset="0"/>
                <a:cs typeface="Times New Roman" panose="02020603050405020304" pitchFamily="18" charset="0"/>
              </a:rPr>
              <a:t>10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004A55"/>
                </a:solidFill>
                <a:effectLst/>
                <a:latin typeface="Montserrat" panose="00000500000000000000" pitchFamily="2" charset="0"/>
                <a:cs typeface="Times New Roman" panose="02020603050405020304" pitchFamily="18" charset="0"/>
              </a:rPr>
              <a:t>(3). https://doi.org/10.1002/widm.1355</a:t>
            </a:r>
            <a:endParaRPr kumimoji="0" lang="en-US" altLang="en-US" sz="4000" b="0" i="0" u="none" strike="noStrike" cap="none" normalizeH="0" baseline="0" dirty="0">
              <a:ln>
                <a:noFill/>
              </a:ln>
              <a:solidFill>
                <a:srgbClr val="004A55"/>
              </a:solidFill>
              <a:effectLst/>
              <a:latin typeface="Montserrat" panose="00000500000000000000" pitchFamily="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CD8CCD8-47DD-45D8-9E7C-F2EB9CD1BB83}"/>
              </a:ext>
            </a:extLst>
          </p:cNvPr>
          <p:cNvSpPr txBox="1"/>
          <p:nvPr/>
        </p:nvSpPr>
        <p:spPr>
          <a:xfrm>
            <a:off x="876300" y="2010049"/>
            <a:ext cx="449580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000" dirty="0">
                <a:solidFill>
                  <a:srgbClr val="004A55"/>
                </a:solidFill>
                <a:latin typeface="Montserrat Bold" panose="00000800000000000000" charset="0"/>
              </a:rPr>
              <a:t>References</a:t>
            </a:r>
          </a:p>
        </p:txBody>
      </p:sp>
    </p:spTree>
    <p:extLst>
      <p:ext uri="{BB962C8B-B14F-4D97-AF65-F5344CB8AC3E}">
        <p14:creationId xmlns:p14="http://schemas.microsoft.com/office/powerpoint/2010/main" val="4132149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342</TotalTime>
  <Words>567</Words>
  <Application>Microsoft Office PowerPoint</Application>
  <PresentationFormat>Custom</PresentationFormat>
  <Paragraphs>97</Paragraphs>
  <Slides>12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0" baseType="lpstr">
      <vt:lpstr>Calibri</vt:lpstr>
      <vt:lpstr>Courier New</vt:lpstr>
      <vt:lpstr>Arial</vt:lpstr>
      <vt:lpstr>Montserrat Bold</vt:lpstr>
      <vt:lpstr>Wingdings</vt:lpstr>
      <vt:lpstr>Montserrat</vt:lpstr>
      <vt:lpstr>Montserrat Medium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Green Orange White Modern Group Project Presentation</dc:title>
  <cp:lastModifiedBy>Abu Fatah Mohammed Faisal</cp:lastModifiedBy>
  <cp:revision>34</cp:revision>
  <dcterms:created xsi:type="dcterms:W3CDTF">2006-08-16T00:00:00Z</dcterms:created>
  <dcterms:modified xsi:type="dcterms:W3CDTF">2025-05-27T07:20:25Z</dcterms:modified>
  <dc:identifier>DAGoGWV-tFE</dc:identifier>
</cp:coreProperties>
</file>